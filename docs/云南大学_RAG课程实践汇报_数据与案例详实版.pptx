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bf85f6db50421c" /><Relationship Type="http://schemas.openxmlformats.org/officeDocument/2006/relationships/extended-properties" Target="/docProps/app.xml" Id="R25d24295705a4087" /><Relationship Type="http://schemas.openxmlformats.org/officeDocument/2006/relationships/officeDocument" Target="/ppt/presentation.xml" Id="Rbd8bd5c1599046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c86c321bcb4a85"/>
  </p:sldMasterIdLst>
  <p:notesMasterIdLst>
    <p:notesMasterId xmlns:r="http://schemas.openxmlformats.org/officeDocument/2006/relationships" r:id="R37c01c2208de47cc"/>
  </p:notesMasterIdLst>
  <p:sldIdLst>
    <p:sldId xmlns:r="http://schemas.openxmlformats.org/officeDocument/2006/relationships" id="256" r:id="R111d9913ae5b4301"/>
    <p:sldId xmlns:r="http://schemas.openxmlformats.org/officeDocument/2006/relationships" id="257" r:id="R25a5a041875b436f"/>
    <p:sldId xmlns:r="http://schemas.openxmlformats.org/officeDocument/2006/relationships" id="258" r:id="Rea3b0b02ba7f4335"/>
    <p:sldId xmlns:r="http://schemas.openxmlformats.org/officeDocument/2006/relationships" id="259" r:id="R2a1480680dbe4154"/>
    <p:sldId xmlns:r="http://schemas.openxmlformats.org/officeDocument/2006/relationships" id="260" r:id="R646ea14feedf4884"/>
    <p:sldId xmlns:r="http://schemas.openxmlformats.org/officeDocument/2006/relationships" id="261" r:id="Ra251aa323cc34051"/>
    <p:sldId xmlns:r="http://schemas.openxmlformats.org/officeDocument/2006/relationships" id="262" r:id="R36720a5da65d465d"/>
    <p:sldId xmlns:r="http://schemas.openxmlformats.org/officeDocument/2006/relationships" id="263" r:id="R0790410991c548f3"/>
    <p:sldId xmlns:r="http://schemas.openxmlformats.org/officeDocument/2006/relationships" id="264" r:id="R558a88f6a6b24e93"/>
    <p:sldId xmlns:r="http://schemas.openxmlformats.org/officeDocument/2006/relationships" id="265" r:id="R5f47d3c7881943da"/>
    <p:sldId xmlns:r="http://schemas.openxmlformats.org/officeDocument/2006/relationships" id="266" r:id="R0054b0551255412f"/>
    <p:sldId xmlns:r="http://schemas.openxmlformats.org/officeDocument/2006/relationships" id="267" r:id="R944763105efb4a3c"/>
    <p:sldId xmlns:r="http://schemas.openxmlformats.org/officeDocument/2006/relationships" id="268" r:id="Raa06e845c4954a8b"/>
    <p:sldId xmlns:r="http://schemas.openxmlformats.org/officeDocument/2006/relationships" id="269" r:id="R6dc2cc5f709944b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99ee064f7147e7" /><Relationship Type="http://schemas.openxmlformats.org/officeDocument/2006/relationships/slideMaster" Target="/ppt/slideMasters/slideMaster1.xml" Id="Rdcc86c321bcb4a85" /><Relationship Type="http://schemas.openxmlformats.org/officeDocument/2006/relationships/notesMaster" Target="/ppt/notesMasters/notesMaster1.xml" Id="R37c01c2208de47cc" /><Relationship Type="http://schemas.openxmlformats.org/officeDocument/2006/relationships/presProps" Target="/ppt/presProps.xml" Id="R162a5ab74f264b10" /><Relationship Type="http://schemas.openxmlformats.org/officeDocument/2006/relationships/viewProps" Target="/ppt/viewProps.xml" Id="R21229dc1f13b4496" /><Relationship Type="http://schemas.openxmlformats.org/officeDocument/2006/relationships/tableStyles" Target="/ppt/tableStyles.xml" Id="R1ff13b6592ae4de4" /><Relationship Type="http://schemas.openxmlformats.org/officeDocument/2006/relationships/slide" Target="/ppt/slides/slide1.xml" Id="R111d9913ae5b4301" /><Relationship Type="http://schemas.openxmlformats.org/officeDocument/2006/relationships/slide" Target="/ppt/slides/slide2.xml" Id="R25a5a041875b436f" /><Relationship Type="http://schemas.openxmlformats.org/officeDocument/2006/relationships/slide" Target="/ppt/slides/slide3.xml" Id="Rea3b0b02ba7f4335" /><Relationship Type="http://schemas.openxmlformats.org/officeDocument/2006/relationships/slide" Target="/ppt/slides/slide4.xml" Id="R2a1480680dbe4154" /><Relationship Type="http://schemas.openxmlformats.org/officeDocument/2006/relationships/slide" Target="/ppt/slides/slide5.xml" Id="R646ea14feedf4884" /><Relationship Type="http://schemas.openxmlformats.org/officeDocument/2006/relationships/slide" Target="/ppt/slides/slide6.xml" Id="Ra251aa323cc34051" /><Relationship Type="http://schemas.openxmlformats.org/officeDocument/2006/relationships/slide" Target="/ppt/slides/slide7.xml" Id="R36720a5da65d465d" /><Relationship Type="http://schemas.openxmlformats.org/officeDocument/2006/relationships/slide" Target="/ppt/slides/slide8.xml" Id="R0790410991c548f3" /><Relationship Type="http://schemas.openxmlformats.org/officeDocument/2006/relationships/slide" Target="/ppt/slides/slide9.xml" Id="R558a88f6a6b24e93" /><Relationship Type="http://schemas.openxmlformats.org/officeDocument/2006/relationships/slide" Target="/ppt/slides/slide10.xml" Id="R5f47d3c7881943da" /><Relationship Type="http://schemas.openxmlformats.org/officeDocument/2006/relationships/slide" Target="/ppt/slides/slide11.xml" Id="R0054b0551255412f" /><Relationship Type="http://schemas.openxmlformats.org/officeDocument/2006/relationships/slide" Target="/ppt/slides/slide12.xml" Id="R944763105efb4a3c" /><Relationship Type="http://schemas.openxmlformats.org/officeDocument/2006/relationships/slide" Target="/ppt/slides/slide13.xml" Id="Raa06e845c4954a8b" /><Relationship Type="http://schemas.openxmlformats.org/officeDocument/2006/relationships/slide" Target="/ppt/slides/slide14.xml" Id="R6dc2cc5f7099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207ba0e2624d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0b4f79adb497b" /><Relationship Type="http://schemas.openxmlformats.org/officeDocument/2006/relationships/notesMaster" Target="/ppt/notesMasters/notesMaster1.xml" Id="Rf17439450201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0408ade4e4b22" /><Relationship Type="http://schemas.openxmlformats.org/officeDocument/2006/relationships/notesMaster" Target="/ppt/notesMasters/notesMaster1.xml" Id="R1cc7379fd7694d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341c8be8784fa0" /><Relationship Type="http://schemas.openxmlformats.org/officeDocument/2006/relationships/notesMaster" Target="/ppt/notesMasters/notesMaster1.xml" Id="Rab68f289db724f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73b1907429429a" /><Relationship Type="http://schemas.openxmlformats.org/officeDocument/2006/relationships/notesMaster" Target="/ppt/notesMasters/notesMaster1.xml" Id="R06dcce4ff905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85768b992e421c" /><Relationship Type="http://schemas.openxmlformats.org/officeDocument/2006/relationships/notesMaster" Target="/ppt/notesMasters/notesMaster1.xml" Id="R97d01e5ecfd541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1ee6f8bd5b4d4e" /><Relationship Type="http://schemas.openxmlformats.org/officeDocument/2006/relationships/notesMaster" Target="/ppt/notesMasters/notesMaster1.xml" Id="Rd039b63559eb44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de3e63e1e3459d" /><Relationship Type="http://schemas.openxmlformats.org/officeDocument/2006/relationships/notesMaster" Target="/ppt/notesMasters/notesMaster1.xml" Id="R5b6b0645ad2f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3b3bbeebf64b86" /><Relationship Type="http://schemas.openxmlformats.org/officeDocument/2006/relationships/notesMaster" Target="/ppt/notesMasters/notesMaster1.xml" Id="R61e85170626947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f36ac4007041a5" /><Relationship Type="http://schemas.openxmlformats.org/officeDocument/2006/relationships/notesMaster" Target="/ppt/notesMasters/notesMaster1.xml" Id="Rb32967be98a046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b94d6261d0404e" /><Relationship Type="http://schemas.openxmlformats.org/officeDocument/2006/relationships/notesMaster" Target="/ppt/notesMasters/notesMaster1.xml" Id="R9734583becee45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ecfaa4dd504a1f" /><Relationship Type="http://schemas.openxmlformats.org/officeDocument/2006/relationships/notesMaster" Target="/ppt/notesMasters/notesMaster1.xml" Id="Rfdcd796da8e34c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9cf29c7f454bab" /><Relationship Type="http://schemas.openxmlformats.org/officeDocument/2006/relationships/notesMaster" Target="/ppt/notesMasters/notesMaster1.xml" Id="Rd55b6c3ceb4f48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dc39873bf849ec" /><Relationship Type="http://schemas.openxmlformats.org/officeDocument/2006/relationships/notesMaster" Target="/ppt/notesMasters/notesMaster1.xml" Id="Rc750806e0deb4e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5f275e03d540c9" /><Relationship Type="http://schemas.openxmlformats.org/officeDocument/2006/relationships/notesMaster" Target="/ppt/notesMasters/notesMaster1.xml" Id="Rb03a40a1442d4d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本次汇报围绕D2知识库、D3评测集和T1基础RAG。接下来用实际文件、保存答案、检索片段和统计数据说明工作与结果。截图区域待运行后补充，页面中的答案文字来自已保存的2026-10-25实验。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D:/Desktop/学习资料/LLM-RAG/LLM-RAG/results/t1_no_retrieval.jsonl</a:t>
            </a:r>
          </a:p>
          <a:p xmlns:a="http://schemas.openxmlformats.org/drawingml/2006/main">
            <a:r>
              <a:t>D:/Desktop/学习资料/LLM-RAG/LLM-RAG/results/t1_summary.json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库不是23份培养方案，而是围绕学校培养、课程、学业和推免的23篇资料。培养与专业信息8篇进一步分为3份方案、4篇简介和1篇培养特色新闻。入库仅统计解析成功的ready资料，避免把缺失附件或历史归档也计入有效篇数。不同年份、推荐资格与接收招生必须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D:/Desktop/学习资料/LLM-RAG/LLM-RAG/metadata/sources.json</a:t>
            </a:r>
          </a:p>
          <a:p xmlns:a="http://schemas.openxmlformats.org/drawingml/2006/main">
            <a:r>
              <a:t>D:/Desktop/学习资料/LLM-RAG/LLM-RAG/文档目录.md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真实来源元数据，不是占位示意。ynu001原件18页，正文12038字符，版本为2022版2023年修订。通过原始HTML/PDF归档、正文、来源链接和哈希将答案追溯到资料。截图S1请在项目根目录运行数据核验命令，展示真实统计，不用伪造终端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D:/Desktop/学习资料/LLM-RAG/LLM-RAG/metadata/sources.json</a:t>
            </a:r>
          </a:p>
          <a:p xmlns:a="http://schemas.openxmlformats.org/drawingml/2006/main">
            <a:r>
              <a:t>D:/Desktop/学习资料/LLM-RAG/LLM-RAG/data/corpus/ynu001.md</a:t>
            </a:r>
          </a:p>
          <a:p xmlns:a="http://schemas.openxmlformats.org/drawingml/2006/main">
            <a:r>
              <a:t>D:/Desktop/学习资料/LLM-RAG/LLM-RAG/docs/资料与实现说明.md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同时展示分层设计和实际JSON字段，避免只有四个等级名称。L2要整合条款或计算，L3要解释条件与结论，L4按有依据的要点评分。q002的编号、问题、参考答案和gold块均直接取自现有qa_set.jsonl。金标不是被测千问生成的答案，55处证据已做原文对照核验，但不冒称独立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D:/Desktop/学习资料/LLM-RAG/LLM-RAG/data/eval/qa_set.jsonl</a:t>
            </a:r>
          </a:p>
          <a:p xmlns:a="http://schemas.openxmlformats.org/drawingml/2006/main">
            <a:r>
              <a:t>D:/Desktop/学习资料/LLM-RAG/LLM-RAG/data/eval/qa_evidence.jsonl</a:t>
            </a:r>
          </a:p>
          <a:p xmlns:a="http://schemas.openxmlformats.org/drawingml/2006/main">
            <a:r>
              <a:t>D:/Desktop/学习资料/LLM-RAG/LLM-RAG/data/eval/qa_manifest.json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版对应老师要求的七个环节。截图S2运行索引检查命令，实际加载FAISS，显示文档、分块、索引向量数及64维。它读取现有索引，通常无需重建；若代码或资料变化，项目自身会重建。这里把实现参数和索引运行证据并排，避免只讲流程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D:/Desktop/学习资料/LLM-RAG/LLM-RAG/src/kb.py</a:t>
            </a:r>
          </a:p>
          <a:p xmlns:a="http://schemas.openxmlformats.org/drawingml/2006/main">
            <a:r>
              <a:t>D:/Desktop/学习资料/LLM-RAG/LLM-RAG/src/rag_chain.py</a:t>
            </a:r>
          </a:p>
          <a:p xmlns:a="http://schemas.openxmlformats.org/drawingml/2006/main">
            <a:r>
              <a:t>D:/Desktop/学习资料/LLM-RAG/LLM-RAG/index_langchain/index_info.json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问题、模型和参数分别运行RAG及无检索，各20次。无检索组不接收Context和检索工具，也不接收gold。为避免被强制拒答，移除了仅依据资料和引用要求，因此有提示适配差异。S3展示的是已保存实验文件的检查，不是宣称重新推理得到同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D:/Desktop/学习资料/LLM-RAG/LLM-RAG/src/run_t1_experiment.py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D:/Desktop/学习资料/LLM-RAG/LLM-RAG/results/t1_no_retrieval.jsonl</a:t>
            </a:r>
          </a:p>
          <a:p xmlns:a="http://schemas.openxmlformats.org/drawingml/2006/main">
            <a:r>
              <a:t>D:/Desktop/学习资料/LLM-RAG/LLM-RAG/results/T1_基线与对照实验分析.md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将整体结果和成本一起展示。RAG得分高47.5个百分点，满分11题，对照1题，但它并非每题更好，仍有3题更差。平均耗时约60.66秒和30.07秒，这包含模型生成和冷启动，不应全部解释为检索开销。评分由助手逐题核对，存在主观性；单次20题结果不代表统计显著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D:/Desktop/学习资料/LLM-RAG/LLM-RAG/results/t1_summary.json</a:t>
            </a:r>
          </a:p>
          <a:p xmlns:a="http://schemas.openxmlformats.org/drawingml/2006/main">
            <a:r>
              <a:t>D:/Desktop/学习资料/LLM-RAG/LLM-RAG/results/T1_基线与对照实验分析.md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至L3分别60对20、90对20、90对10，L4则两组同为52。检索18题命中至少一个金标，但全部金标均召回只有13题。平均gold块覆盖率80.4%是先算每题覆盖比例再平均。即使一个gold命中，也可能缺其他条件；反之，部分标注块没有命中也不一定妨碍回答核心问题，后面q006就是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D:/Desktop/学习资料/LLM-RAG/LLM-RAG/results/t1_summary.json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D:/Desktop/学习资料/LLM-RAG/LLM-RAG/data/eval/README.md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题的证据直接写出先修课程，RAG在第一位召回并准确回答数据结构，引用编号对应真实片段。无检索组未给出答案。S4可显示保存的原始答案与top-5；若现场使用chat_ollama重新推理，请把它标为新的运行，不保证文字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D:/Desktop/学习资料/LLM-RAG/LLM-RAG/data/corpus/ynu006.md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D:/Desktop/学习资料/LLM-RAG/LLM-RAG/results/t1_no_retrieval.jsonl</a:t>
            </a:r>
          </a:p>
          <a:p xmlns:a="http://schemas.openxmlformats.org/drawingml/2006/main">
            <a:r>
              <a:t>https://higher.smartedu.cn/course/69811cc295df98bb27c3c2a2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条规定原专业其他课程认定到选修模块不超过10，第八条规定辅修或微专业不超过15，两类专业教育认定均不超过5。RAG组合两段后算出差5分。实际召回了3个gold中的2个，缺少适用年级块，但核心比较已可回答，因此不能只看是否全部gold命中就判答案失败。块完整编号分别为ynu010_p000_00111和ynu010_p000_00112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D:/Desktop/学习资料/LLM-RAG/LLM-RAG/data/corpus/ynu010.md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D:/Desktop/学习资料/LLM-RAG/LLM-RAG/results/t1_no_retrieval.jsonl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标在原文件第8页，而实际召回是第18、1、9、17页及另一专业片段，没有毕业学分依据。模型拒答比编造稳妥，但未完成题目，属于检索失败。无检索给160也错误。这页用实际top-5编号和明确缺失的gold说明归因，而不是只说系统表现不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D:/Desktop/学习资料/LLM-RAG/LLM-RAG/results/t1_no_retrieval.jsonl</a:t>
            </a:r>
          </a:p>
          <a:p xmlns:a="http://schemas.openxmlformats.org/drawingml/2006/main">
            <a:r>
              <a:t>D:/Desktop/学习资料/LLM-RAG/LLM-RAG/data/corpus/ynu001.md</a:t>
            </a:r>
          </a:p>
          <a:p xmlns:a="http://schemas.openxmlformats.org/drawingml/2006/main">
            <a:r>
              <a:t>D:/Desktop/学习资料/LLM-RAG/LLM-RAG/index_langchain/documents.json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召回含第1、2、10、6页等，没有给数量限制的第3页。RAG只能说资料不足，无检索却答对两门。这是一个清楚的反例，说明RAG不是每题都优于模型已有知识。复现截图应使用相同问题或保存的相同题号；缩短问题会改变检索排序，不能把不同查询结果当成这次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D:/Desktop/学习资料/LLM-RAG/LLM-RAG/data/corpus/ynu012.md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D:/Desktop/学习资料/LLM-RAG/LLM-RAG/results/t1_no_retrieval.jsonl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017两个gold都召回，实际第4个候选也含正确电话，但模型把前一行智慧城市与数字治理的电话和联系人移给智慧医疗，还混入另一个微专业介绍。表格跨块结构与生成关联都需要注意。补图请展示已保存原句，并与原表对应行比较。q019还有[8]越界，CLI包装层会报错，批量实验保留输出和标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D:/Desktop/学习资料/LLM-RAG/LLM-RAG/results/t1_baseline.jsonl</a:t>
            </a:r>
          </a:p>
          <a:p xmlns:a="http://schemas.openxmlformats.org/drawingml/2006/main">
            <a:r>
              <a:t>D:/Desktop/学习资料/LLM-RAG/LLM-RAG/data/corpus/ynu030.md</a:t>
            </a:r>
          </a:p>
          <a:p xmlns:a="http://schemas.openxmlformats.org/drawingml/2006/main">
            <a:r>
              <a:t>D:/Desktop/学习资料/LLM-RAG/LLM-RAG/index_langchain/documents.json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RAG主要改善事实、跨条款比较与规则应用。L4平均分没有提高，因此不能把外部知识检索直接等同复杂推理能力提升。后续针对两个漏召回案例检查正文定位和分块，针对表格错配检查结构保留与生成事实核对，再分别验证重排等方案。以上都是后续计划，不是已做完的优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D:/Desktop/学习资料/LLM-RAG/LLM-RAG/results/t1_summary.json</a:t>
            </a:r>
          </a:p>
          <a:p xmlns:a="http://schemas.openxmlformats.org/drawingml/2006/main">
            <a:r>
              <a:t>D:/Desktop/学习资料/LLM-RAG/LLM-RAG/results/T1_基线与对照实验分析.md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6962f4cd84d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03fcd27584e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47e1d184640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18142d9e244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d2359569149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f799dfc8e44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95d17240045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19ddb07fb43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36bb366b249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9f8e3676448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72b7bab224c0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4F58208-E0C4-4480-83D7-439E298815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6DD6FA2-EBAB-4269-9B7A-96C4828AB0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D02AE2B-1BF6-4BBB-A6EC-03DA06DFFE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288688-5E16-45CC-BEAD-9D73C9EE29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4D2D8F-C8DC-421A-B19A-080FF7AA5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BED652-6078-4564-A80C-0594D481A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B9C3E9F-B214-44D8-8564-248F57E8AA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AF0970-83C1-4093-8AD7-52C724A94E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55B8CBA-7905-48B5-865A-200F6930D6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CB88B1-BCFD-4FEB-9383-C555F4D7BA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DEAFA2-5B41-4404-8AA0-4FE966A9A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14E33B-6725-4806-991A-F5DECF213E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79EADE-35F5-46C9-868D-ECE8649C6C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BD526C1-68E4-48C1-9BD2-9283819C97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DB2C32-CC5C-405A-8AE8-D3401306FB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486A332-65C2-42C7-B86E-897001889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4895AC2-697F-46E3-907C-D6B3543904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5EC26AE-5883-4673-91B9-9F1A6302C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9737545-1081-4141-8C9E-8B79E2DFE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987D4CC-2CD2-4403-8C6B-52A91869A5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9BC273-4307-4D2E-8B22-6797576FE0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002D70A-C6CB-4383-9303-52ABC543B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0BCF2B4-7D0B-441D-8DC5-46F728E541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C2AF680-7111-4D6B-810F-75800BDA0C9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35CC3B3-EFBF-448E-B3ED-CEB753EB9A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6C01B6A-C7F1-467D-8DFE-9BC29688D9D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4D4B3F1-CA1A-4F15-867A-E5F0AD4504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8BD934A-4DC9-4293-8AC8-9FEF10A310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AF525A9-695E-4FF6-842C-9EB9A143F4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C83204E-4B33-4A3A-A775-4FFC5E6AE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3952C7A-7CE2-4570-8615-05AB3D4F2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7B5431B-65E0-42B3-99A8-1A627615E8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B47DC74-C58B-4356-9690-F678A3D1F5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85AD11E-1AA0-4707-B5CA-E6BB354AD6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3600C05-8D22-4AA2-B0AD-2B55CF9CD5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E52F071-DF43-4B05-ABC5-02669A43A8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6DF8A6-8A3C-48A7-A1B6-738B0C8F78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897DA2B-EA2C-4928-9E26-58115F35C2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6EB9BA1-0DB9-4661-BC0C-015BC5B70E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86AD638-0582-4F48-B267-57A3B85195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EEB07D1-A787-4BA2-B03C-88C2A59EDC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145F14F-AF55-4CE6-8D40-48FAE3FB2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D1E870-0807-4589-92DA-EA9CDCE4D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3613D95-66D7-433F-A26C-B82F79081F1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73344F3-CE2C-4C0B-8812-48FE567C25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7FCC1FD-9D31-4898-A1D6-A7711245A7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D03338E-6843-4F81-B1D3-BD96162B04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1542EDC-2221-4702-92DD-F81AFEF03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479869-A379-400B-B637-322C39E58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C44EFD7-F618-4A64-A777-83ED649B5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E640B0-0676-46C4-9B3B-2EE3B2D313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33F8FA-68F1-4CB6-9216-AB2F3DC635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13CD5CB-BC5A-462D-9364-93F308089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B035737-F681-432D-9556-A04DF2270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7C5CC0C-FEB0-4498-B21A-011193B5A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9120C27-92D6-4094-B67C-6ABC1FE015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C06275-85A3-45D5-A01D-F35491CB19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85E184F-217D-4062-AB2A-D767CAFAF1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414fe86d0f4d35" /><Relationship Type="http://schemas.openxmlformats.org/officeDocument/2006/relationships/slideLayout" Target="/ppt/slideLayouts/slideLayout1.xml" Id="R99d34d94d4264954" /><Relationship Type="http://schemas.openxmlformats.org/officeDocument/2006/relationships/slideLayout" Target="/ppt/slideLayouts/slideLayout2.xml" Id="R956ca6af9b164f8a" /><Relationship Type="http://schemas.openxmlformats.org/officeDocument/2006/relationships/slideLayout" Target="/ppt/slideLayouts/slideLayout3.xml" Id="R45f9c91e882b4d4f" /><Relationship Type="http://schemas.openxmlformats.org/officeDocument/2006/relationships/slideLayout" Target="/ppt/slideLayouts/slideLayout4.xml" Id="R5acb7e4c7439416c" /><Relationship Type="http://schemas.openxmlformats.org/officeDocument/2006/relationships/slideLayout" Target="/ppt/slideLayouts/slideLayout5.xml" Id="R8c7c956c67664ee4" /><Relationship Type="http://schemas.openxmlformats.org/officeDocument/2006/relationships/slideLayout" Target="/ppt/slideLayouts/slideLayout6.xml" Id="Ref10337ff1924d55" /><Relationship Type="http://schemas.openxmlformats.org/officeDocument/2006/relationships/slideLayout" Target="/ppt/slideLayouts/slideLayout7.xml" Id="R563bdc7c738d428f" /><Relationship Type="http://schemas.openxmlformats.org/officeDocument/2006/relationships/slideLayout" Target="/ppt/slideLayouts/slideLayout8.xml" Id="R581398f9f6c84c93" /><Relationship Type="http://schemas.openxmlformats.org/officeDocument/2006/relationships/slideLayout" Target="/ppt/slideLayouts/slideLayout9.xml" Id="R62d79ee942274b81" /><Relationship Type="http://schemas.openxmlformats.org/officeDocument/2006/relationships/slideLayout" Target="/ppt/slideLayouts/slideLayout10.xml" Id="Rd6854e3e1915462f" /><Relationship Type="http://schemas.openxmlformats.org/officeDocument/2006/relationships/slideLayout" Target="/ppt/slideLayouts/slideLayout11.xml" Id="Rd2360c52d0984a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2797DFC-30D5-4DA5-AD4F-C718ABD78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CC9202-C2AD-4630-BB33-F44C8C5C8C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BCBBE7-A639-414E-AC82-4ABAE8B5772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21E449C-B299-4D02-832E-40E40BA3CB6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单击此处编辑会议</a:t>
            </a:r>
            <a:r>
              <a:t>/</a:t>
            </a:r>
            <a:r>
              <a:t>报告</a:t>
            </a:r>
            <a:r>
              <a:t>/</a:t>
            </a:r>
            <a:r>
              <a:t>课程名称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7195A99-0669-4C3E-A8CF-5F5CBD471D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d34d94d4264954"/>
    <p:sldLayoutId xmlns:r="http://schemas.openxmlformats.org/officeDocument/2006/relationships" id="2147483650" r:id="R956ca6af9b164f8a"/>
    <p:sldLayoutId xmlns:r="http://schemas.openxmlformats.org/officeDocument/2006/relationships" id="2147483651" r:id="R45f9c91e882b4d4f"/>
    <p:sldLayoutId xmlns:r="http://schemas.openxmlformats.org/officeDocument/2006/relationships" id="2147483652" r:id="R5acb7e4c7439416c"/>
    <p:sldLayoutId xmlns:r="http://schemas.openxmlformats.org/officeDocument/2006/relationships" id="2147483653" r:id="R8c7c956c67664ee4"/>
    <p:sldLayoutId xmlns:r="http://schemas.openxmlformats.org/officeDocument/2006/relationships" id="2147483654" r:id="Ref10337ff1924d55"/>
    <p:sldLayoutId xmlns:r="http://schemas.openxmlformats.org/officeDocument/2006/relationships" id="2147483655" r:id="R563bdc7c738d428f"/>
    <p:sldLayoutId xmlns:r="http://schemas.openxmlformats.org/officeDocument/2006/relationships" id="2147483656" r:id="R581398f9f6c84c93"/>
    <p:sldLayoutId xmlns:r="http://schemas.openxmlformats.org/officeDocument/2006/relationships" id="2147483657" r:id="R62d79ee942274b81"/>
    <p:sldLayoutId xmlns:r="http://schemas.openxmlformats.org/officeDocument/2006/relationships" id="2147483658" r:id="Rd6854e3e1915462f"/>
    <p:sldLayoutId xmlns:r="http://schemas.openxmlformats.org/officeDocument/2006/relationships" id="2147483659" r:id="Rd2360c52d0984a69"/>
  </p:sldLayoutIdLst>
  <p:hf hd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665525158142c0" /><Relationship Type="http://schemas.openxmlformats.org/officeDocument/2006/relationships/image" Target="/ppt/media/image.png" Id="R87608291dfef4727" /><Relationship Type="http://schemas.openxmlformats.org/officeDocument/2006/relationships/image" Target="/ppt/media/image.svg" Id="Rea83def71f624134" /><Relationship Type="http://schemas.openxmlformats.org/officeDocument/2006/relationships/image" Target="/ppt/media/image2.png" Id="R27db325f4e364737" /><Relationship Type="http://schemas.openxmlformats.org/officeDocument/2006/relationships/image" Target="/ppt/media/image2.svg" Id="R037be9652e6d4362" /><Relationship Type="http://schemas.openxmlformats.org/officeDocument/2006/relationships/image" Target="/ppt/media/image3.png" Id="R4a6158fa9f4a4f14" /><Relationship Type="http://schemas.openxmlformats.org/officeDocument/2006/relationships/image" Target="/ppt/media/image3.svg" Id="Rc2323525c2e2443d" /><Relationship Type="http://schemas.openxmlformats.org/officeDocument/2006/relationships/image" Target="/ppt/media/image4.png" Id="R8609b42ead5a4a74" /><Relationship Type="http://schemas.openxmlformats.org/officeDocument/2006/relationships/image" Target="/ppt/media/image4.svg" Id="R2718cc526e6c49cc" /><Relationship Type="http://schemas.openxmlformats.org/officeDocument/2006/relationships/image" Target="/ppt/media/image5.png" Id="R181993a0c1ef4802" /><Relationship Type="http://schemas.openxmlformats.org/officeDocument/2006/relationships/image" Target="/ppt/media/image5.svg" Id="R65d4a34923284725" /><Relationship Type="http://schemas.openxmlformats.org/officeDocument/2006/relationships/image" Target="/ppt/media/image6.png" Id="R895ca0f4e55b4a7b" /><Relationship Type="http://schemas.openxmlformats.org/officeDocument/2006/relationships/image" Target="/ppt/media/image6.svg" Id="R3f5f878d2fa64e73" /><Relationship Type="http://schemas.openxmlformats.org/officeDocument/2006/relationships/image" Target="/ppt/media/image7.png" Id="R3bb84b6424c047d3" /><Relationship Type="http://schemas.openxmlformats.org/officeDocument/2006/relationships/notesSlide" Target="/ppt/notesSlides/notesSlide1.xml" Id="R6592a2692b44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05ee7e22fa4419" /><Relationship Type="http://schemas.openxmlformats.org/officeDocument/2006/relationships/image" Target="/ppt/media/image.png" Id="R7832fa9cd39f4c2a" /><Relationship Type="http://schemas.openxmlformats.org/officeDocument/2006/relationships/image" Target="/ppt/media/image.svg" Id="R2a93aa371bd64351" /><Relationship Type="http://schemas.openxmlformats.org/officeDocument/2006/relationships/image" Target="/ppt/media/image2.png" Id="R6fc6019bf8b7477c" /><Relationship Type="http://schemas.openxmlformats.org/officeDocument/2006/relationships/image" Target="/ppt/media/image2.svg" Id="Rc18d465256394587" /><Relationship Type="http://schemas.openxmlformats.org/officeDocument/2006/relationships/image" Target="/ppt/media/image3.png" Id="R7d7f4920714c4120" /><Relationship Type="http://schemas.openxmlformats.org/officeDocument/2006/relationships/image" Target="/ppt/media/image3.svg" Id="R4e7eb64050544d5a" /><Relationship Type="http://schemas.openxmlformats.org/officeDocument/2006/relationships/image" Target="/ppt/media/image4.png" Id="R2128d86e5e194030" /><Relationship Type="http://schemas.openxmlformats.org/officeDocument/2006/relationships/image" Target="/ppt/media/image4.svg" Id="R79bc4b14027741dc" /><Relationship Type="http://schemas.openxmlformats.org/officeDocument/2006/relationships/image" Target="/ppt/media/image5.png" Id="Reb6384a39e4a4f7b" /><Relationship Type="http://schemas.openxmlformats.org/officeDocument/2006/relationships/image" Target="/ppt/media/image5.svg" Id="R445b9868921f4903" /><Relationship Type="http://schemas.openxmlformats.org/officeDocument/2006/relationships/notesSlide" Target="/ppt/notesSlides/notesSlide2.xml" Id="Rb439983aa69d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1606ade1f84b0e" /><Relationship Type="http://schemas.openxmlformats.org/officeDocument/2006/relationships/image" Target="/ppt/media/image.png" Id="Rcf52cb31182c4364" /><Relationship Type="http://schemas.openxmlformats.org/officeDocument/2006/relationships/image" Target="/ppt/media/image.svg" Id="R4385071457b14965" /><Relationship Type="http://schemas.openxmlformats.org/officeDocument/2006/relationships/image" Target="/ppt/media/image2.png" Id="R50fddcf22a85453f" /><Relationship Type="http://schemas.openxmlformats.org/officeDocument/2006/relationships/image" Target="/ppt/media/image2.svg" Id="R4127aac9733e428a" /><Relationship Type="http://schemas.openxmlformats.org/officeDocument/2006/relationships/image" Target="/ppt/media/image3.png" Id="R4ff91e034ca045d5" /><Relationship Type="http://schemas.openxmlformats.org/officeDocument/2006/relationships/image" Target="/ppt/media/image3.svg" Id="R2a34f57c4c4745f3" /><Relationship Type="http://schemas.openxmlformats.org/officeDocument/2006/relationships/image" Target="/ppt/media/image4.png" Id="Rf0fb023c7c3f4538" /><Relationship Type="http://schemas.openxmlformats.org/officeDocument/2006/relationships/image" Target="/ppt/media/image4.svg" Id="R6790261bf54c4ae0" /><Relationship Type="http://schemas.openxmlformats.org/officeDocument/2006/relationships/image" Target="/ppt/media/image5.png" Id="R2033ceaf237b48f0" /><Relationship Type="http://schemas.openxmlformats.org/officeDocument/2006/relationships/image" Target="/ppt/media/image5.svg" Id="R10c1601c961c43d3" /><Relationship Type="http://schemas.openxmlformats.org/officeDocument/2006/relationships/notesSlide" Target="/ppt/notesSlides/notesSlide3.xml" Id="R95ac814608f941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45508382c14ec9" /><Relationship Type="http://schemas.openxmlformats.org/officeDocument/2006/relationships/image" Target="/ppt/media/image.png" Id="R59b2780320cd40ed" /><Relationship Type="http://schemas.openxmlformats.org/officeDocument/2006/relationships/image" Target="/ppt/media/image.svg" Id="R9ff955a0ae0c4bd4" /><Relationship Type="http://schemas.openxmlformats.org/officeDocument/2006/relationships/image" Target="/ppt/media/image2.png" Id="R0b80e249a0514311" /><Relationship Type="http://schemas.openxmlformats.org/officeDocument/2006/relationships/image" Target="/ppt/media/image2.svg" Id="Rf2b0bdd7d8404754" /><Relationship Type="http://schemas.openxmlformats.org/officeDocument/2006/relationships/image" Target="/ppt/media/image3.png" Id="Ra88d48dea5ea4f24" /><Relationship Type="http://schemas.openxmlformats.org/officeDocument/2006/relationships/image" Target="/ppt/media/image3.svg" Id="Ree7233e67dee4f97" /><Relationship Type="http://schemas.openxmlformats.org/officeDocument/2006/relationships/image" Target="/ppt/media/image4.png" Id="Ref359d9057284e0b" /><Relationship Type="http://schemas.openxmlformats.org/officeDocument/2006/relationships/image" Target="/ppt/media/image4.svg" Id="R64d7abf696ac4a6a" /><Relationship Type="http://schemas.openxmlformats.org/officeDocument/2006/relationships/image" Target="/ppt/media/image5.png" Id="Ra5486317ff974dbd" /><Relationship Type="http://schemas.openxmlformats.org/officeDocument/2006/relationships/image" Target="/ppt/media/image5.svg" Id="Rac3b831251b94f21" /><Relationship Type="http://schemas.openxmlformats.org/officeDocument/2006/relationships/notesSlide" Target="/ppt/notesSlides/notesSlide4.xml" Id="R80043fa1ba6d4e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b2dab29fe14357" /><Relationship Type="http://schemas.openxmlformats.org/officeDocument/2006/relationships/image" Target="/ppt/media/image.png" Id="R9c972db4697742cd" /><Relationship Type="http://schemas.openxmlformats.org/officeDocument/2006/relationships/image" Target="/ppt/media/image.svg" Id="Rce8dd848bbed4d2e" /><Relationship Type="http://schemas.openxmlformats.org/officeDocument/2006/relationships/image" Target="/ppt/media/image2.png" Id="R3794ca49834241ed" /><Relationship Type="http://schemas.openxmlformats.org/officeDocument/2006/relationships/image" Target="/ppt/media/image2.svg" Id="R2ab1f918d80e4dc3" /><Relationship Type="http://schemas.openxmlformats.org/officeDocument/2006/relationships/image" Target="/ppt/media/image3.png" Id="Rebbd040e95204a02" /><Relationship Type="http://schemas.openxmlformats.org/officeDocument/2006/relationships/image" Target="/ppt/media/image3.svg" Id="Rcf25d927b09a478f" /><Relationship Type="http://schemas.openxmlformats.org/officeDocument/2006/relationships/image" Target="/ppt/media/image4.png" Id="R7933b47625b34953" /><Relationship Type="http://schemas.openxmlformats.org/officeDocument/2006/relationships/image" Target="/ppt/media/image4.svg" Id="Rafb89d14c24f4ff4" /><Relationship Type="http://schemas.openxmlformats.org/officeDocument/2006/relationships/image" Target="/ppt/media/image5.png" Id="Re914a1370f3240f3" /><Relationship Type="http://schemas.openxmlformats.org/officeDocument/2006/relationships/image" Target="/ppt/media/image5.svg" Id="R4e877567c63748d0" /><Relationship Type="http://schemas.openxmlformats.org/officeDocument/2006/relationships/notesSlide" Target="/ppt/notesSlides/notesSlide5.xml" Id="R6c196e7b1c8d40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30d37d99b247ce" /><Relationship Type="http://schemas.openxmlformats.org/officeDocument/2006/relationships/image" Target="/ppt/media/image.png" Id="Rf7b961f7591843c6" /><Relationship Type="http://schemas.openxmlformats.org/officeDocument/2006/relationships/image" Target="/ppt/media/image.svg" Id="Rd8ade246b85c4054" /><Relationship Type="http://schemas.openxmlformats.org/officeDocument/2006/relationships/image" Target="/ppt/media/image2.png" Id="R3c4be6f686a7490b" /><Relationship Type="http://schemas.openxmlformats.org/officeDocument/2006/relationships/image" Target="/ppt/media/image2.svg" Id="Re801f0d4031043df" /><Relationship Type="http://schemas.openxmlformats.org/officeDocument/2006/relationships/image" Target="/ppt/media/image3.png" Id="Rca8998ec5db247d9" /><Relationship Type="http://schemas.openxmlformats.org/officeDocument/2006/relationships/image" Target="/ppt/media/image3.svg" Id="R5f2e8fbb529643fa" /><Relationship Type="http://schemas.openxmlformats.org/officeDocument/2006/relationships/image" Target="/ppt/media/image4.png" Id="R55f7ef78aa7e4ed3" /><Relationship Type="http://schemas.openxmlformats.org/officeDocument/2006/relationships/image" Target="/ppt/media/image4.svg" Id="R6c39b06c75a7422e" /><Relationship Type="http://schemas.openxmlformats.org/officeDocument/2006/relationships/image" Target="/ppt/media/image5.png" Id="R62ffc1c08e9d47a5" /><Relationship Type="http://schemas.openxmlformats.org/officeDocument/2006/relationships/image" Target="/ppt/media/image5.svg" Id="R496b935eb2f442f8" /><Relationship Type="http://schemas.openxmlformats.org/officeDocument/2006/relationships/notesSlide" Target="/ppt/notesSlides/notesSlide6.xml" Id="R66de0062d7cd44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39d4b95eaa48ac" /><Relationship Type="http://schemas.openxmlformats.org/officeDocument/2006/relationships/image" Target="/ppt/media/image.png" Id="Rbf7538aa70504478" /><Relationship Type="http://schemas.openxmlformats.org/officeDocument/2006/relationships/image" Target="/ppt/media/image.svg" Id="Rbde31472de7741b9" /><Relationship Type="http://schemas.openxmlformats.org/officeDocument/2006/relationships/image" Target="/ppt/media/image2.png" Id="R4cf8f0a53b2446b6" /><Relationship Type="http://schemas.openxmlformats.org/officeDocument/2006/relationships/image" Target="/ppt/media/image2.svg" Id="Ra6d642aad6da4426" /><Relationship Type="http://schemas.openxmlformats.org/officeDocument/2006/relationships/image" Target="/ppt/media/image3.png" Id="R14e4cc2805cb42a5" /><Relationship Type="http://schemas.openxmlformats.org/officeDocument/2006/relationships/image" Target="/ppt/media/image3.svg" Id="Re3dc9eea8648425c" /><Relationship Type="http://schemas.openxmlformats.org/officeDocument/2006/relationships/image" Target="/ppt/media/image4.png" Id="Rd61275bc7a894b7a" /><Relationship Type="http://schemas.openxmlformats.org/officeDocument/2006/relationships/image" Target="/ppt/media/image4.svg" Id="R440d10347fa647b2" /><Relationship Type="http://schemas.openxmlformats.org/officeDocument/2006/relationships/image" Target="/ppt/media/image5.png" Id="R35ab43acf41f4c12" /><Relationship Type="http://schemas.openxmlformats.org/officeDocument/2006/relationships/image" Target="/ppt/media/image5.svg" Id="Re3e8e83e4b9b4c45" /><Relationship Type="http://schemas.openxmlformats.org/officeDocument/2006/relationships/chart" Target="/ppt/slides/charts/chart1.xml" Id="R173efe0a704a474a" /><Relationship Type="http://schemas.openxmlformats.org/officeDocument/2006/relationships/notesSlide" Target="/ppt/notesSlides/notesSlide7.xml" Id="Rae518d22fb244e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cb05c6f9974629" /><Relationship Type="http://schemas.openxmlformats.org/officeDocument/2006/relationships/image" Target="/ppt/media/image.png" Id="R7bf93bad711e4594" /><Relationship Type="http://schemas.openxmlformats.org/officeDocument/2006/relationships/image" Target="/ppt/media/image.svg" Id="R90c1f6e5d9c14494" /><Relationship Type="http://schemas.openxmlformats.org/officeDocument/2006/relationships/image" Target="/ppt/media/image2.png" Id="R275ac0985cdb487f" /><Relationship Type="http://schemas.openxmlformats.org/officeDocument/2006/relationships/image" Target="/ppt/media/image2.svg" Id="R0e037ab790f44b19" /><Relationship Type="http://schemas.openxmlformats.org/officeDocument/2006/relationships/image" Target="/ppt/media/image3.png" Id="Rff4567a9e9184326" /><Relationship Type="http://schemas.openxmlformats.org/officeDocument/2006/relationships/image" Target="/ppt/media/image3.svg" Id="R0b3ef31ba5644295" /><Relationship Type="http://schemas.openxmlformats.org/officeDocument/2006/relationships/image" Target="/ppt/media/image4.png" Id="R1551c964dd83411a" /><Relationship Type="http://schemas.openxmlformats.org/officeDocument/2006/relationships/image" Target="/ppt/media/image4.svg" Id="R9a22e17f772b48d9" /><Relationship Type="http://schemas.openxmlformats.org/officeDocument/2006/relationships/image" Target="/ppt/media/image5.png" Id="R9d4f9986681b437d" /><Relationship Type="http://schemas.openxmlformats.org/officeDocument/2006/relationships/image" Target="/ppt/media/image5.svg" Id="R19e531afe1814a56" /><Relationship Type="http://schemas.openxmlformats.org/officeDocument/2006/relationships/chart" Target="/ppt/slides/charts/chart2.xml" Id="Re71779f2cb8b4288" /><Relationship Type="http://schemas.openxmlformats.org/officeDocument/2006/relationships/notesSlide" Target="/ppt/notesSlides/notesSlide8.xml" Id="Re59f14f20dc247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4d4a0ad6394c86" /><Relationship Type="http://schemas.openxmlformats.org/officeDocument/2006/relationships/image" Target="/ppt/media/image.png" Id="Rf8f655cb9eb54409" /><Relationship Type="http://schemas.openxmlformats.org/officeDocument/2006/relationships/image" Target="/ppt/media/image.svg" Id="Rf9ee08a69e1e4395" /><Relationship Type="http://schemas.openxmlformats.org/officeDocument/2006/relationships/image" Target="/ppt/media/image2.png" Id="R0c6423ed0dc24fbc" /><Relationship Type="http://schemas.openxmlformats.org/officeDocument/2006/relationships/image" Target="/ppt/media/image2.svg" Id="R55f16bf96d8642bd" /><Relationship Type="http://schemas.openxmlformats.org/officeDocument/2006/relationships/image" Target="/ppt/media/image3.png" Id="R098880c92c2847d4" /><Relationship Type="http://schemas.openxmlformats.org/officeDocument/2006/relationships/image" Target="/ppt/media/image3.svg" Id="R90784af3e3a3428a" /><Relationship Type="http://schemas.openxmlformats.org/officeDocument/2006/relationships/image" Target="/ppt/media/image4.png" Id="Ra4f1e2216bb547d3" /><Relationship Type="http://schemas.openxmlformats.org/officeDocument/2006/relationships/image" Target="/ppt/media/image4.svg" Id="Rf84545737ec248ff" /><Relationship Type="http://schemas.openxmlformats.org/officeDocument/2006/relationships/image" Target="/ppt/media/image5.png" Id="R7ff6c3cecb3b4ca0" /><Relationship Type="http://schemas.openxmlformats.org/officeDocument/2006/relationships/image" Target="/ppt/media/image5.svg" Id="R39d47664a4b249ae" /><Relationship Type="http://schemas.openxmlformats.org/officeDocument/2006/relationships/notesSlide" Target="/ppt/notesSlides/notesSlide9.xml" Id="R2969bc0928084e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68d3f07906410d" /><Relationship Type="http://schemas.openxmlformats.org/officeDocument/2006/relationships/image" Target="/ppt/media/image.png" Id="Rca284c13329b45b5" /><Relationship Type="http://schemas.openxmlformats.org/officeDocument/2006/relationships/image" Target="/ppt/media/image.svg" Id="Rd15bf25addc04fb9" /><Relationship Type="http://schemas.openxmlformats.org/officeDocument/2006/relationships/image" Target="/ppt/media/image2.png" Id="R52767e08994b4f69" /><Relationship Type="http://schemas.openxmlformats.org/officeDocument/2006/relationships/image" Target="/ppt/media/image2.svg" Id="R87ed8441ed3c420c" /><Relationship Type="http://schemas.openxmlformats.org/officeDocument/2006/relationships/image" Target="/ppt/media/image3.png" Id="R71907ab5335f4544" /><Relationship Type="http://schemas.openxmlformats.org/officeDocument/2006/relationships/image" Target="/ppt/media/image3.svg" Id="R43bef8531f6c41f1" /><Relationship Type="http://schemas.openxmlformats.org/officeDocument/2006/relationships/image" Target="/ppt/media/image4.png" Id="R104413b58fd944e0" /><Relationship Type="http://schemas.openxmlformats.org/officeDocument/2006/relationships/image" Target="/ppt/media/image4.svg" Id="Ra78304e82e7e46a4" /><Relationship Type="http://schemas.openxmlformats.org/officeDocument/2006/relationships/image" Target="/ppt/media/image5.png" Id="R20cfc7b8f7f144f6" /><Relationship Type="http://schemas.openxmlformats.org/officeDocument/2006/relationships/image" Target="/ppt/media/image5.svg" Id="R82e43a82bc79496d" /><Relationship Type="http://schemas.openxmlformats.org/officeDocument/2006/relationships/notesSlide" Target="/ppt/notesSlides/notesSlide10.xml" Id="R89a1d50be9734d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dc5804ccbc4002" /><Relationship Type="http://schemas.openxmlformats.org/officeDocument/2006/relationships/image" Target="/ppt/media/image.png" Id="R5ad441771a7a4c13" /><Relationship Type="http://schemas.openxmlformats.org/officeDocument/2006/relationships/image" Target="/ppt/media/image.svg" Id="R1dab89cf29b74c4e" /><Relationship Type="http://schemas.openxmlformats.org/officeDocument/2006/relationships/image" Target="/ppt/media/image2.png" Id="R56f1ace116af4282" /><Relationship Type="http://schemas.openxmlformats.org/officeDocument/2006/relationships/image" Target="/ppt/media/image2.svg" Id="R350bb367bbfc4ce8" /><Relationship Type="http://schemas.openxmlformats.org/officeDocument/2006/relationships/image" Target="/ppt/media/image3.png" Id="R193589d2f2e549ec" /><Relationship Type="http://schemas.openxmlformats.org/officeDocument/2006/relationships/image" Target="/ppt/media/image3.svg" Id="R9cfd77bf8cfc4dfd" /><Relationship Type="http://schemas.openxmlformats.org/officeDocument/2006/relationships/image" Target="/ppt/media/image4.png" Id="Rb9201680c9684308" /><Relationship Type="http://schemas.openxmlformats.org/officeDocument/2006/relationships/image" Target="/ppt/media/image4.svg" Id="Rd946155aaa7b45e1" /><Relationship Type="http://schemas.openxmlformats.org/officeDocument/2006/relationships/image" Target="/ppt/media/image5.png" Id="Ra725b27e004647c6" /><Relationship Type="http://schemas.openxmlformats.org/officeDocument/2006/relationships/image" Target="/ppt/media/image5.svg" Id="R04c62badf99b483f" /><Relationship Type="http://schemas.openxmlformats.org/officeDocument/2006/relationships/notesSlide" Target="/ppt/notesSlides/notesSlide11.xml" Id="Rfc72567bec134e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d8deabdcda469d" /><Relationship Type="http://schemas.openxmlformats.org/officeDocument/2006/relationships/image" Target="/ppt/media/image.png" Id="R14bc0d6370ef4416" /><Relationship Type="http://schemas.openxmlformats.org/officeDocument/2006/relationships/image" Target="/ppt/media/image.svg" Id="Rfae015b2f90c469c" /><Relationship Type="http://schemas.openxmlformats.org/officeDocument/2006/relationships/image" Target="/ppt/media/image2.png" Id="Rd162196947724227" /><Relationship Type="http://schemas.openxmlformats.org/officeDocument/2006/relationships/image" Target="/ppt/media/image2.svg" Id="R0717eeab9d4f44c2" /><Relationship Type="http://schemas.openxmlformats.org/officeDocument/2006/relationships/image" Target="/ppt/media/image3.png" Id="Rfde289829f40409c" /><Relationship Type="http://schemas.openxmlformats.org/officeDocument/2006/relationships/image" Target="/ppt/media/image3.svg" Id="R10ccd01c6d1447a9" /><Relationship Type="http://schemas.openxmlformats.org/officeDocument/2006/relationships/image" Target="/ppt/media/image4.png" Id="R55d17a34974a4dc1" /><Relationship Type="http://schemas.openxmlformats.org/officeDocument/2006/relationships/image" Target="/ppt/media/image4.svg" Id="R5d5d3abff83a4e12" /><Relationship Type="http://schemas.openxmlformats.org/officeDocument/2006/relationships/image" Target="/ppt/media/image5.png" Id="R3207d8f057dd45be" /><Relationship Type="http://schemas.openxmlformats.org/officeDocument/2006/relationships/image" Target="/ppt/media/image5.svg" Id="Rfef5d98ab3ec4e5a" /><Relationship Type="http://schemas.openxmlformats.org/officeDocument/2006/relationships/notesSlide" Target="/ppt/notesSlides/notesSlide12.xml" Id="R2918b11dcbf14a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b434f09fa942ae" /><Relationship Type="http://schemas.openxmlformats.org/officeDocument/2006/relationships/image" Target="/ppt/media/image.png" Id="R763a49c681f24b73" /><Relationship Type="http://schemas.openxmlformats.org/officeDocument/2006/relationships/image" Target="/ppt/media/image.svg" Id="R9c52570c6b6c444b" /><Relationship Type="http://schemas.openxmlformats.org/officeDocument/2006/relationships/image" Target="/ppt/media/image2.png" Id="Ra26c5f637c094a9d" /><Relationship Type="http://schemas.openxmlformats.org/officeDocument/2006/relationships/image" Target="/ppt/media/image2.svg" Id="Re06ff3f8dade4b01" /><Relationship Type="http://schemas.openxmlformats.org/officeDocument/2006/relationships/image" Target="/ppt/media/image3.png" Id="R663dc4f3195b4903" /><Relationship Type="http://schemas.openxmlformats.org/officeDocument/2006/relationships/image" Target="/ppt/media/image3.svg" Id="Ra87c46c7a6cc44ff" /><Relationship Type="http://schemas.openxmlformats.org/officeDocument/2006/relationships/image" Target="/ppt/media/image4.png" Id="Reedd7bbc9f6e4115" /><Relationship Type="http://schemas.openxmlformats.org/officeDocument/2006/relationships/image" Target="/ppt/media/image4.svg" Id="R9e0cbdf9f4754648" /><Relationship Type="http://schemas.openxmlformats.org/officeDocument/2006/relationships/image" Target="/ppt/media/image5.png" Id="R4749455c66ac4099" /><Relationship Type="http://schemas.openxmlformats.org/officeDocument/2006/relationships/image" Target="/ppt/media/image5.svg" Id="Rf7e1de41bf8a487a" /><Relationship Type="http://schemas.openxmlformats.org/officeDocument/2006/relationships/notesSlide" Target="/ppt/notesSlides/notesSlide13.xml" Id="R5e7c7cb8fc7c41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fa625e37684ca5" /><Relationship Type="http://schemas.openxmlformats.org/officeDocument/2006/relationships/image" Target="/ppt/media/image8.png" Id="R889784d727eb4f3f" /><Relationship Type="http://schemas.openxmlformats.org/officeDocument/2006/relationships/image" Target="/ppt/media/image9.png" Id="R262c2f63d2a04d86" /><Relationship Type="http://schemas.openxmlformats.org/officeDocument/2006/relationships/image" Target="/ppt/media/image10.png" Id="Rf44ae934beb94036" /><Relationship Type="http://schemas.openxmlformats.org/officeDocument/2006/relationships/image" Target="/ppt/media/image11.png" Id="R6e850baa343149cb" /><Relationship Type="http://schemas.openxmlformats.org/officeDocument/2006/relationships/image" Target="/ppt/media/image12.png" Id="Rec4c7d4296574050" /><Relationship Type="http://schemas.openxmlformats.org/officeDocument/2006/relationships/image" Target="/ppt/media/image7.png" Id="Re8c28f5a2722470c" /><Relationship Type="http://schemas.openxmlformats.org/officeDocument/2006/relationships/notesSlide" Target="/ppt/notesSlides/notesSlide14.xml" Id="Rc182ebcfb200402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归一化得分</c:v>
          </c:tx>
          <c:spPr>
            <a:solidFill xmlns:a="http://schemas.openxmlformats.org/drawingml/2006/main">
              <a:srgbClr val="1D2B5B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A7AFB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基础RAG</c:v>
                </c:pt>
                <c:pt idx="1">
                  <c:v>无检索LLM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0.73</c:v>
                </c:pt>
                <c:pt idx="1">
                  <c:v>0.255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等线"/>
                  <a:ea typeface="等线"/>
                  <a:cs typeface="等线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等线"/>
                <a:ea typeface="等线"/>
                <a:cs typeface="等线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4E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等线"/>
                <a:ea typeface="等线"/>
                <a:cs typeface="等线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基础RAG</c:v>
          </c:tx>
          <c:spPr>
            <a:solidFill xmlns:a="http://schemas.openxmlformats.org/drawingml/2006/main">
              <a:srgbClr val="1D2B5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0.6</c:v>
                </c:pt>
                <c:pt idx="1">
                  <c:v>0.9</c:v>
                </c:pt>
                <c:pt idx="2">
                  <c:v>0.9</c:v>
                </c:pt>
                <c:pt idx="3">
                  <c:v>0.52</c:v>
                </c:pt>
              </c:numCache>
            </c:numRef>
          </c:val>
        </c:ser>
        <c:ser>
          <c:idx val="1"/>
          <c:order val="1"/>
          <c:tx>
            <c:v>无检索LLM</c:v>
          </c:tx>
          <c:spPr>
            <a:solidFill xmlns:a="http://schemas.openxmlformats.org/drawingml/2006/main">
              <a:srgbClr val="A7AFBD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0.1</c:v>
                </c:pt>
                <c:pt idx="3">
                  <c:v>0.52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等线"/>
                  <a:ea typeface="等线"/>
                  <a:cs typeface="等线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等线"/>
                <a:ea typeface="等线"/>
                <a:cs typeface="等线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4E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等线"/>
                <a:ea typeface="等线"/>
                <a:cs typeface="等线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等线"/>
              <a:ea typeface="等线"/>
              <a:cs typeface="等线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Freeform 3">
            <a:extLst xmlns:a="http://schemas.openxmlformats.org/drawingml/2006/main">
              <a:ext uri="{FF2B5EF4-FFF2-40B4-BE49-F238E27FC236}">
                <a16:creationId xmlns:a16="http://schemas.microsoft.com/office/drawing/2014/main" id="{BCA23FC3-6CE8-402D-8C6D-C1C5625E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608291dfef4727">
              <a:extLst>
                <a:ext uri="{96DAC541-7B7A-43D3-8B79-37D633B846F1}">
                  <asvg:svgBlip xmlns:asvg="http://schemas.microsoft.com/office/drawing/2016/SVG/main" r:embed="Rea83def71f624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7" name="Freeform 5">
            <a:extLst xmlns:a="http://schemas.openxmlformats.org/drawingml/2006/main">
              <a:ext uri="{FF2B5EF4-FFF2-40B4-BE49-F238E27FC236}">
                <a16:creationId xmlns:a16="http://schemas.microsoft.com/office/drawing/2014/main" id="{F54783AD-26EA-442E-8CBA-0FFA5597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7db325f4e364737">
              <a:extLst>
                <a:ext uri="{96DAC541-7B7A-43D3-8B79-37D633B846F1}">
                  <asvg:svgBlip xmlns:asvg="http://schemas.microsoft.com/office/drawing/2016/SVG/main" r:embed="R037be9652e6d43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3" name="Freeform 8">
            <a:extLst xmlns:a="http://schemas.openxmlformats.org/drawingml/2006/main">
              <a:ext uri="{FF2B5EF4-FFF2-40B4-BE49-F238E27FC236}">
                <a16:creationId xmlns:a16="http://schemas.microsoft.com/office/drawing/2014/main" id="{55827320-944A-4F8D-B9D8-429792C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4" name="Freeform 9">
            <a:extLst xmlns:a="http://schemas.openxmlformats.org/drawingml/2006/main">
              <a:ext uri="{FF2B5EF4-FFF2-40B4-BE49-F238E27FC236}">
                <a16:creationId xmlns:a16="http://schemas.microsoft.com/office/drawing/2014/main" id="{DBD113EF-0AE2-4109-8F90-5B0052EE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8298DF2-EC1B-44F4-823D-8B57A0D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DE8B4CD-92A8-4785-9016-7EC0B4E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79F6CDD-B3DA-476A-B803-130DA1E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5B50C57-136D-4DE8-94C1-C488E47E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7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3AD8120-0509-4899-9D6F-28727D30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6158fa9f4a4f14">
              <a:extLst>
                <a:ext uri="{96DAC541-7B7A-43D3-8B79-37D633B846F1}">
                  <asvg:svgBlip xmlns:asvg="http://schemas.microsoft.com/office/drawing/2016/SVG/main" r:embed="Rc2323525c2e2443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7D615DF-575D-43F6-8CC7-BAF740BC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09b42ead5a4a74">
              <a:extLst>
                <a:ext uri="{96DAC541-7B7A-43D3-8B79-37D633B846F1}">
                  <asvg:svgBlip xmlns:asvg="http://schemas.microsoft.com/office/drawing/2016/SVG/main" r:embed="R2718cc526e6c49c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8901C8A-5EDA-4C02-ADFB-04BB712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81993a0c1ef4802">
              <a:extLst>
                <a:ext uri="{96DAC541-7B7A-43D3-8B79-37D633B846F1}">
                  <asvg:svgBlip xmlns:asvg="http://schemas.microsoft.com/office/drawing/2016/SVG/main" r:embed="R65d4a349232847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183E0E0-195D-484A-84CF-1645C49A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8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6BD5778-CBDF-4F36-9492-633A563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8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8757BA4-10F5-49C8-AF22-FEA82D08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8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724744C-67DB-4DD2-A371-83917B6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8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B707C29-183E-4531-B9F6-852D5D9B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8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02DD0F36-E47D-4F54-A1B9-5156593B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8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FDE4833-B5AD-4D43-A777-CABA756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002C185-FB0B-411B-9C20-58BAA79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1B1F41A-F570-488A-8902-FBF69223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C752654-B087-41B5-9D92-EA5AA38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E5C3FE1-3AF2-4A9C-A6DF-E0CAAD8F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93345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43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云南大学软件学院</a:t>
            </a:r>
            <a:endParaRPr sz="5400" b="1"/>
          </a:p>
          <a:p xmlns:a="http://schemas.openxmlformats.org/drawingml/2006/main">
            <a:pPr algn="ctr">
              <a:buNone/>
              <a:defRPr sz="43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43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知识库与基础RAG实践</a:t>
            </a:r>
            <a:endParaRPr sz="5400" b="1"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B1B2D6E-2686-4272-B414-89F7178E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7620000" cy="30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>
                <a:solidFill>
                  <a:srgbClr val="222A36"/>
                </a:solidFill>
                <a:latin typeface="等线"/>
                <a:ea typeface="等线"/>
                <a:cs typeface="等线"/>
              </a:rPr>
              <a:t>D2 数据准备　D3 评测集　T1 基线对照</a:t>
            </a:r>
            <a:endParaRPr sz="2025">
              <a:solidFill>
                <a:srgbClr val="222A36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Freeform 2">
            <a:extLst xmlns:a="http://schemas.openxmlformats.org/drawingml/2006/main">
              <a:ext uri="{FF2B5EF4-FFF2-40B4-BE49-F238E27FC236}">
                <a16:creationId xmlns:a16="http://schemas.microsoft.com/office/drawing/2014/main" id="{F6EC59AF-BDFE-487D-A8FF-0E2E4EFE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151" y="3777131"/>
            <a:ext cx="4674622" cy="3080869"/>
          </a:xfrm>
          <a:custGeom xmlns:a="http://schemas.openxmlformats.org/drawingml/2006/main">
            <a:rect l="l" t="t" r="r" b="b"/>
            <a:pathLst>
              <a:path w="7247489" h="4776550">
                <a:moveTo>
                  <a:pt x="0" y="0"/>
                </a:moveTo>
                <a:lnTo>
                  <a:pt x="7247489" y="0"/>
                </a:lnTo>
                <a:lnTo>
                  <a:pt x="7247489" y="4776550"/>
                </a:lnTo>
                <a:lnTo>
                  <a:pt x="0" y="47765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5ca0f4e55b4a7b">
              <a:extLst>
                <a:ext uri="{96DAC541-7B7A-43D3-8B79-37D633B846F1}">
                  <asvg:svgBlip xmlns:asvg="http://schemas.microsoft.com/office/drawing/2016/SVG/main" r:embed="R3f5f878d2fa64e73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图片 21">
            <a:extLst xmlns:a="http://schemas.openxmlformats.org/drawingml/2006/main">
              <a:ext uri="{FF2B5EF4-FFF2-40B4-BE49-F238E27FC236}">
                <a16:creationId xmlns:a16="http://schemas.microsoft.com/office/drawing/2014/main" id="{E88A6296-8122-41EE-A369-82075784C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84b6424c047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83377" y="4228472"/>
            <a:ext cx="1999536" cy="2629528"/>
          </a:xfrm>
          <a:prstGeom xmlns:a="http://schemas.openxmlformats.org/drawingml/2006/main" prst="rect">
            <a:avLst/>
          </a:prstGeom>
        </p:spPr>
      </p:pic>
      <p:sp>
        <p:nvSpPr>
          <p:cNvPr id="99" name="课程实践汇报">
            <a:extLst xmlns:a="http://schemas.openxmlformats.org/drawingml/2006/main">
              <a:ext uri="{FF2B5EF4-FFF2-40B4-BE49-F238E27FC236}">
                <a16:creationId xmlns:a16="http://schemas.microsoft.com/office/drawing/2014/main" id="{D36CD30C-797C-4EE9-814C-1728260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课程实践汇报</a:t>
            </a:r>
            <a:endParaRPr sz="1725" b="0">
              <a:solidFill>
                <a:srgbClr val="626B79"/>
              </a:solidFill>
              <a:latin typeface="等线"/>
              <a:ea typeface="等线"/>
              <a:cs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307342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32fa9cd39f4c2a">
              <a:extLst>
                <a:ext uri="{96DAC541-7B7A-43D3-8B79-37D633B846F1}">
                  <asvg:svgBlip xmlns:asvg="http://schemas.microsoft.com/office/drawing/2016/SVG/main" r:embed="R2a93aa371bd643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c6019bf8b7477c">
              <a:extLst>
                <a:ext uri="{96DAC541-7B7A-43D3-8B79-37D633B846F1}">
                  <asvg:svgBlip xmlns:asvg="http://schemas.microsoft.com/office/drawing/2016/SVG/main" r:embed="Rc18d4652563945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7f4920714c4120">
              <a:extLst>
                <a:ext uri="{96DAC541-7B7A-43D3-8B79-37D633B846F1}">
                  <asvg:svgBlip xmlns:asvg="http://schemas.microsoft.com/office/drawing/2016/SVG/main" r:embed="R4e7eb64050544d5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128d86e5e194030">
              <a:extLst>
                <a:ext uri="{96DAC541-7B7A-43D3-8B79-37D633B846F1}">
                  <asvg:svgBlip xmlns:asvg="http://schemas.microsoft.com/office/drawing/2016/SVG/main" r:embed="R79bc4b14027741d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6384a39e4a4f7b">
              <a:extLst>
                <a:ext uri="{96DAC541-7B7A-43D3-8B79-37D633B846F1}">
                  <asvg:svgBlip xmlns:asvg="http://schemas.microsoft.com/office/drawing/2016/SVG/main" r:embed="R445b9868921f49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D2：23篇资料的组成与版本">
            <a:extLst xmlns:a="http://schemas.openxmlformats.org/drawingml/2006/main">
              <a:ext uri="{FF2B5EF4-FFF2-40B4-BE49-F238E27FC236}">
                <a16:creationId xmlns:a16="http://schemas.microsoft.com/office/drawing/2014/main" id="{B1B408F0-A70E-4F28-B54F-90750007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D2：23篇资料的组成与版本</a:t>
            </a:r>
          </a:p>
        </p:txBody>
      </p:sp>
      <p:sp>
        <p:nvSpPr>
          <p:cNvPr id="30" name="02 / 14">
            <a:extLst xmlns:a="http://schemas.openxmlformats.org/drawingml/2006/main">
              <a:ext uri="{FF2B5EF4-FFF2-40B4-BE49-F238E27FC236}">
                <a16:creationId xmlns:a16="http://schemas.microsoft.com/office/drawing/2014/main" id="{FD55972F-07C2-4D2B-9F2C-949EB2E7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02 / 14</a:t>
            </a:r>
          </a:p>
        </p:txBody>
      </p:sp>
      <p:sp>
        <p:nvSpPr>
          <p:cNvPr id="31" name="23篇入库　92,439字符　61,893个汉字">
            <a:extLst xmlns:a="http://schemas.openxmlformats.org/drawingml/2006/main">
              <a:ext uri="{FF2B5EF4-FFF2-40B4-BE49-F238E27FC236}">
                <a16:creationId xmlns:a16="http://schemas.microsoft.com/office/drawing/2014/main" id="{730F36B7-9505-4FCB-AD90-B9148C31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8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23篇入库　92,439字符　61,893个汉字</a:t>
            </a:r>
          </a:p>
        </p:txBody>
      </p: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94B697-211E-46BA-966A-B21A67A8F429}"/>
              </a:ext>
            </a:extLst>
          </p:cNvPr>
          <p:cNvGraphicFramePr/>
          <p:nvPr/>
        </p:nvGraphicFramePr>
        <p:xfrm>
          <a:off xmlns:a="http://schemas.openxmlformats.org/drawingml/2006/main" x="619125" y="1819275"/>
          <a:ext xmlns:a="http://schemas.openxmlformats.org/drawingml/2006/main" cx="1095375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952500"/>
                <a:gridCol w="7667625"/>
              </a:tblGrid>
              <a:tr h="5619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篇数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具体文件与范围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5619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培养与专业信息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3份培养方案、4篇专业简介、1篇拔尖班特色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619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公开课程大纲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数据库概论、操作系统原理、大数据分析及应用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选课与学业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学籍、学分认定、选课、考务、辅修、微专业等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619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推免推荐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学校2026/2027文件、学院2025细则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推免接收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学院2027接收细则、2026夏令营方案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3" name="只把解析成功且status=ready的资料计入知识库">
            <a:extLst xmlns:a="http://schemas.openxmlformats.org/drawingml/2006/main">
              <a:ext uri="{FF2B5EF4-FFF2-40B4-BE49-F238E27FC236}">
                <a16:creationId xmlns:a16="http://schemas.microsoft.com/office/drawing/2014/main" id="{0786C972-2AC1-4ABB-B822-554ABD84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0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只把解析成功且status=ready的资料计入知识库</a:t>
            </a:r>
          </a:p>
        </p:txBody>
      </p:sp>
      <p:sp>
        <p:nvSpPr>
          <p:cNvPr id="34" name="另有7条pending、1条archived，未计入23篇。公开慕课不代表完整校内大纲；公开资料">
            <a:extLst xmlns:a="http://schemas.openxmlformats.org/drawingml/2006/main">
              <a:ext uri="{FF2B5EF4-FFF2-40B4-BE49-F238E27FC236}">
                <a16:creationId xmlns:a16="http://schemas.microsoft.com/office/drawing/2014/main" id="{C058A782-7870-42EB-AD4E-08ECE8AD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另有7条pending、1条archived，未计入23篇。公开慕课不代表完整校内大纲；公开资料的训练覆盖无法证明。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52cb31182c4364">
              <a:extLst>
                <a:ext uri="{96DAC541-7B7A-43D3-8B79-37D633B846F1}">
                  <asvg:svgBlip xmlns:asvg="http://schemas.microsoft.com/office/drawing/2016/SVG/main" r:embed="R4385071457b149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fddcf22a85453f">
              <a:extLst>
                <a:ext uri="{96DAC541-7B7A-43D3-8B79-37D633B846F1}">
                  <asvg:svgBlip xmlns:asvg="http://schemas.microsoft.com/office/drawing/2016/SVG/main" r:embed="R4127aac9733e42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f91e034ca045d5">
              <a:extLst>
                <a:ext uri="{96DAC541-7B7A-43D3-8B79-37D633B846F1}">
                  <asvg:svgBlip xmlns:asvg="http://schemas.microsoft.com/office/drawing/2016/SVG/main" r:embed="R2a34f57c4c4745f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fb023c7c3f4538">
              <a:extLst>
                <a:ext uri="{96DAC541-7B7A-43D3-8B79-37D633B846F1}">
                  <asvg:svgBlip xmlns:asvg="http://schemas.microsoft.com/office/drawing/2016/SVG/main" r:embed="R6790261bf54c4ae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33ceaf237b48f0">
              <a:extLst>
                <a:ext uri="{96DAC541-7B7A-43D3-8B79-37D633B846F1}">
                  <asvg:svgBlip xmlns:asvg="http://schemas.microsoft.com/office/drawing/2016/SVG/main" r:embed="R10c1601c961c43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D2：解析结果与可追溯记录">
            <a:extLst xmlns:a="http://schemas.openxmlformats.org/drawingml/2006/main">
              <a:ext uri="{FF2B5EF4-FFF2-40B4-BE49-F238E27FC236}">
                <a16:creationId xmlns:a16="http://schemas.microsoft.com/office/drawing/2014/main" id="{0ECB37DB-669F-4D5D-AAE4-4BD7BA66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D2：解析结果与可追溯记录</a:t>
            </a:r>
          </a:p>
        </p:txBody>
      </p:sp>
      <p:sp>
        <p:nvSpPr>
          <p:cNvPr id="30" name="03 / 14">
            <a:extLst xmlns:a="http://schemas.openxmlformats.org/drawingml/2006/main">
              <a:ext uri="{FF2B5EF4-FFF2-40B4-BE49-F238E27FC236}">
                <a16:creationId xmlns:a16="http://schemas.microsoft.com/office/drawing/2014/main" id="{B91CFC1D-E214-4CF2-9A39-94A6F133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03 / 14</a:t>
            </a:r>
          </a:p>
        </p:txBody>
      </p:sp>
      <p:graphicFrame>
        <p:nvGraphicFrame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2D6E74-9736-493D-953A-5B95C38C5679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5095875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286125"/>
              </a:tblGrid>
              <a:tr h="51435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元数据字段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真实样例 ynu001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51435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软件工程培养方案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1435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版本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2022版，2023年修订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原件与页数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PDF，18页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1435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正文字符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12038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正文SHA-256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3e5e4975b416a6d22db5…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2" name="8篇PDF按页提取&#10;扫描页使用Windows OCR&#10;正文统一整理为Markdown">
            <a:extLst xmlns:a="http://schemas.openxmlformats.org/drawingml/2006/main">
              <a:ext uri="{FF2B5EF4-FFF2-40B4-BE49-F238E27FC236}">
                <a16:creationId xmlns:a16="http://schemas.microsoft.com/office/drawing/2014/main" id="{8071743D-3F9D-4F00-A3AA-368B0905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8篇PDF按页提取</a:t>
            </a:r>
          </a:p>
          <a:p xmlns:a="http://schemas.openxmlformats.org/drawingml/2006/main"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扫描页使用Windows OCR</a:t>
            </a:r>
          </a:p>
          <a:p xmlns:a="http://schemas.openxmlformats.org/drawingml/2006/main"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正文统一整理为Markdown</a:t>
            </a:r>
          </a:p>
        </p:txBody>
      </p:sp>
      <p:sp>
        <p:nvSpPr>
          <p:cNvPr id="33" name="截图 S1：数据与评测规模核验">
            <a:extLst xmlns:a="http://schemas.openxmlformats.org/drawingml/2006/main">
              <a:ext uri="{FF2B5EF4-FFF2-40B4-BE49-F238E27FC236}">
                <a16:creationId xmlns:a16="http://schemas.microsoft.com/office/drawing/2014/main" id="{F0738290-F4C3-48E6-A0AF-B16BB257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S1：数据与评测规模核验</a:t>
            </a:r>
          </a:p>
        </p:txBody>
      </p:sp>
      <p:sp>
        <p:nvSpPr>
          <p:cNvPr id="34" name="截图S1_空白替换区域">
            <a:extLst xmlns:a="http://schemas.openxmlformats.org/drawingml/2006/main">
              <a:ext uri="{FF2B5EF4-FFF2-40B4-BE49-F238E27FC236}">
                <a16:creationId xmlns:a16="http://schemas.microsoft.com/office/drawing/2014/main" id="{C6C77846-A8E7-48E4-94E6-35B4903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5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B328B89D-E8B2-4C0C-9A51-FA95452E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36" name="python tools/show_t1_case.py --summary">
            <a:extLst xmlns:a="http://schemas.openxmlformats.org/drawingml/2006/main">
              <a:ext uri="{FF2B5EF4-FFF2-40B4-BE49-F238E27FC236}">
                <a16:creationId xmlns:a16="http://schemas.microsoft.com/office/drawing/2014/main" id="{CFC37318-F211-4388-983B-CDC7F202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--summary</a:t>
            </a:r>
          </a:p>
        </p:txBody>
      </p:sp>
      <p:sp>
        <p:nvSpPr>
          <p:cNvPr id="37" name="PyMuPDF按页提取，保留页码与版本。哈希用于核对一致性；OCR、跨页和表格仍需复核。">
            <a:extLst xmlns:a="http://schemas.openxmlformats.org/drawingml/2006/main">
              <a:ext uri="{FF2B5EF4-FFF2-40B4-BE49-F238E27FC236}">
                <a16:creationId xmlns:a16="http://schemas.microsoft.com/office/drawing/2014/main" id="{A118921B-2EAA-4DEC-9828-1F2E2A7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PyMuPDF按页提取，保留页码与版本。哈希用于核对一致性；OCR、跨页和表格仍需复核。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b2780320cd40ed">
              <a:extLst>
                <a:ext uri="{96DAC541-7B7A-43D3-8B79-37D633B846F1}">
                  <asvg:svgBlip xmlns:asvg="http://schemas.microsoft.com/office/drawing/2016/SVG/main" r:embed="R9ff955a0ae0c4b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80e249a0514311">
              <a:extLst>
                <a:ext uri="{96DAC541-7B7A-43D3-8B79-37D633B846F1}">
                  <asvg:svgBlip xmlns:asvg="http://schemas.microsoft.com/office/drawing/2016/SVG/main" r:embed="Rf2b0bdd7d84047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8d48dea5ea4f24">
              <a:extLst>
                <a:ext uri="{96DAC541-7B7A-43D3-8B79-37D633B846F1}">
                  <asvg:svgBlip xmlns:asvg="http://schemas.microsoft.com/office/drawing/2016/SVG/main" r:embed="Ree7233e67dee4f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359d9057284e0b">
              <a:extLst>
                <a:ext uri="{96DAC541-7B7A-43D3-8B79-37D633B846F1}">
                  <asvg:svgBlip xmlns:asvg="http://schemas.microsoft.com/office/drawing/2016/SVG/main" r:embed="R64d7abf696ac4a6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486317ff974dbd">
              <a:extLst>
                <a:ext uri="{96DAC541-7B7A-43D3-8B79-37D633B846F1}">
                  <asvg:svgBlip xmlns:asvg="http://schemas.microsoft.com/office/drawing/2016/SVG/main" r:embed="Rac3b831251b94f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D3：20题分层与完整金标字段">
            <a:extLst xmlns:a="http://schemas.openxmlformats.org/drawingml/2006/main">
              <a:ext uri="{FF2B5EF4-FFF2-40B4-BE49-F238E27FC236}">
                <a16:creationId xmlns:a16="http://schemas.microsoft.com/office/drawing/2014/main" id="{9FC6454C-2237-4CB0-BA79-E216477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D3：20题分层与完整金标字段</a:t>
            </a:r>
          </a:p>
        </p:txBody>
      </p:sp>
      <p:sp>
        <p:nvSpPr>
          <p:cNvPr id="30" name="04 / 14">
            <a:extLst xmlns:a="http://schemas.openxmlformats.org/drawingml/2006/main">
              <a:ext uri="{FF2B5EF4-FFF2-40B4-BE49-F238E27FC236}">
                <a16:creationId xmlns:a16="http://schemas.microsoft.com/office/drawing/2014/main" id="{C8F87DD6-A0F2-4752-8B90-FCF171B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04 / 14</a:t>
            </a:r>
          </a:p>
        </p:txBody>
      </p:sp>
      <p:graphicFrame>
        <p:nvGraphicFrame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2D4F26-C71E-4022-BAA7-270CD2718CEA}"/>
              </a:ext>
            </a:extLst>
          </p:cNvPr>
          <p:cNvGraphicFramePr/>
          <p:nvPr/>
        </p:nvGraphicFramePr>
        <p:xfrm>
          <a:off xmlns:a="http://schemas.openxmlformats.org/drawingml/2006/main" x="619125" y="1162050"/>
          <a:ext xmlns:a="http://schemas.openxmlformats.org/drawingml/2006/main" cx="109537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952500"/>
                <a:gridCol w="8572500"/>
              </a:tblGrid>
              <a:tr h="50292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实际题目及能力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50292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q002：直接查先修课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q006：跨条款比较10与15，计算差5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q011：将GPA2.9代入学校3.0门槛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q017：结合兴趣、专业介绍和约束给建议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q002真实JSONL记录">
            <a:extLst xmlns:a="http://schemas.openxmlformats.org/drawingml/2006/main">
              <a:ext uri="{FF2B5EF4-FFF2-40B4-BE49-F238E27FC236}">
                <a16:creationId xmlns:a16="http://schemas.microsoft.com/office/drawing/2014/main" id="{2B4228DB-1263-47D4-AC5B-2F196C09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147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q002真实JSONL记录</a:t>
            </a:r>
          </a:p>
        </p:txBody>
      </p:sp>
      <p:sp>
        <p:nvSpPr>
          <p:cNvPr id="33" name="{&quot;id&quot;:&quot;q002&quot;,&quot;level&quot;:&quot;L1&quot;,&#10; &quot;question&quot;:&quot;根据云南大学《数">
            <a:extLst xmlns:a="http://schemas.openxmlformats.org/drawingml/2006/main">
              <a:ext uri="{FF2B5EF4-FFF2-40B4-BE49-F238E27FC236}">
                <a16:creationId xmlns:a16="http://schemas.microsoft.com/office/drawing/2014/main" id="{B125999A-7072-418C-8F0D-BFCA9E0D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95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5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{"id":"q002","level":"L1",</a:t>
            </a:r>
          </a:p>
          <a:p xmlns:a="http://schemas.openxmlformats.org/drawingml/2006/main">
            <a: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5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 "question":"根据云南大学《数据库概论》公开慕课课程大纲，该课程要求的先修课是什么？",</a:t>
            </a:r>
          </a:p>
          <a:p xmlns:a="http://schemas.openxmlformats.org/drawingml/2006/main">
            <a: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5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 "gold_answer":"先修课为数据结构。依据是公开慕课课程页面，不能将它表述为完整的校内课程大纲。",</a:t>
            </a:r>
          </a:p>
          <a:p xmlns:a="http://schemas.openxmlformats.org/drawingml/2006/main">
            <a:pPr algn="l">
              <a:defRPr sz="15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5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 "gold_chunk_ids":["ynu006_p000_00088"],"evidence_required":true}</a:t>
            </a:r>
          </a:p>
        </p:txBody>
      </p:sp>
      <p:sp>
        <p:nvSpPr>
          <p:cNvPr id="34" name="55处证据摘录与真实chunk对应。标注使用助手辅助，独立人工复核需据实说明；切分变更后需重新映">
            <a:extLst xmlns:a="http://schemas.openxmlformats.org/drawingml/2006/main">
              <a:ext uri="{FF2B5EF4-FFF2-40B4-BE49-F238E27FC236}">
                <a16:creationId xmlns:a16="http://schemas.microsoft.com/office/drawing/2014/main" id="{46AC5AAA-5A9D-4AA1-9F5C-8AFB5CDF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55处证据摘录与真实chunk对应。标注使用助手辅助，独立人工复核需据实说明；切分变更后需重新映射。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972db4697742cd">
              <a:extLst>
                <a:ext uri="{96DAC541-7B7A-43D3-8B79-37D633B846F1}">
                  <asvg:svgBlip xmlns:asvg="http://schemas.microsoft.com/office/drawing/2016/SVG/main" r:embed="Rce8dd848bbed4d2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794ca49834241ed">
              <a:extLst>
                <a:ext uri="{96DAC541-7B7A-43D3-8B79-37D633B846F1}">
                  <asvg:svgBlip xmlns:asvg="http://schemas.microsoft.com/office/drawing/2016/SVG/main" r:embed="R2ab1f918d80e4dc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bbd040e95204a02">
              <a:extLst>
                <a:ext uri="{96DAC541-7B7A-43D3-8B79-37D633B846F1}">
                  <asvg:svgBlip xmlns:asvg="http://schemas.microsoft.com/office/drawing/2016/SVG/main" r:embed="Rcf25d927b09a478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33b47625b34953">
              <a:extLst>
                <a:ext uri="{96DAC541-7B7A-43D3-8B79-37D633B846F1}">
                  <asvg:svgBlip xmlns:asvg="http://schemas.microsoft.com/office/drawing/2016/SVG/main" r:embed="Rafb89d14c24f4ff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14a1370f3240f3">
              <a:extLst>
                <a:ext uri="{96DAC541-7B7A-43D3-8B79-37D633B846F1}">
                  <asvg:svgBlip xmlns:asvg="http://schemas.microsoft.com/office/drawing/2016/SVG/main" r:embed="R4e877567c63748d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T1：链路实现与实际索引">
            <a:extLst xmlns:a="http://schemas.openxmlformats.org/drawingml/2006/main">
              <a:ext uri="{FF2B5EF4-FFF2-40B4-BE49-F238E27FC236}">
                <a16:creationId xmlns:a16="http://schemas.microsoft.com/office/drawing/2014/main" id="{F20F5B3C-4032-4FB3-AC4D-3CC62FD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T1：链路实现与实际索引</a:t>
            </a:r>
          </a:p>
        </p:txBody>
      </p:sp>
      <p:sp>
        <p:nvSpPr>
          <p:cNvPr id="30" name="05 / 14">
            <a:extLst xmlns:a="http://schemas.openxmlformats.org/drawingml/2006/main">
              <a:ext uri="{FF2B5EF4-FFF2-40B4-BE49-F238E27FC236}">
                <a16:creationId xmlns:a16="http://schemas.microsoft.com/office/drawing/2014/main" id="{5144A405-2E38-492D-BCDD-D7C4D812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05 / 14</a:t>
            </a:r>
          </a:p>
        </p:txBody>
      </p:sp>
      <p:graphicFrame>
        <p:nvGraphicFrame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A325DF-3208-414C-8B18-DF6C6381CA0C}"/>
              </a:ext>
            </a:extLst>
          </p:cNvPr>
          <p:cNvGraphicFramePr/>
          <p:nvPr/>
        </p:nvGraphicFramePr>
        <p:xfrm>
          <a:off xmlns:a="http://schemas.openxmlformats.org/drawingml/2006/main" x="619125" y="1323975"/>
          <a:ext xmlns:a="http://schemas.openxmlformats.org/drawingml/2006/main" cx="5095875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571875"/>
              </a:tblGrid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工具或参数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加载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TextLoader，23篇Markdown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切分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650字符，120字符重叠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向量化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字符TF-IDF、LSA 64维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建索引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FAISS IndexFlatL2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归一化向量，top-k=5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拼Context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LCEL，正文、版本与编号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生成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ChatOllama，Qwen3 4B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2" name="截图 S2：FAISS加载与索引维度">
            <a:extLst xmlns:a="http://schemas.openxmlformats.org/drawingml/2006/main">
              <a:ext uri="{FF2B5EF4-FFF2-40B4-BE49-F238E27FC236}">
                <a16:creationId xmlns:a16="http://schemas.microsoft.com/office/drawing/2014/main" id="{1187FDEB-D276-4B40-9CA7-AE8B1AB6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S2：FAISS加载与索引维度</a:t>
            </a:r>
          </a:p>
        </p:txBody>
      </p:sp>
      <p:sp>
        <p:nvSpPr>
          <p:cNvPr id="33" name="截图S2_空白替换区域">
            <a:extLst xmlns:a="http://schemas.openxmlformats.org/drawingml/2006/main">
              <a:ext uri="{FF2B5EF4-FFF2-40B4-BE49-F238E27FC236}">
                <a16:creationId xmlns:a16="http://schemas.microsoft.com/office/drawing/2014/main" id="{04903FF4-C6B9-47FD-BB42-C66D515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4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03942ECE-D89B-4AC2-B425-524F4B0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35" name="python tools/show_t1_case.py --index">
            <a:extLst xmlns:a="http://schemas.openxmlformats.org/drawingml/2006/main">
              <a:ext uri="{FF2B5EF4-FFF2-40B4-BE49-F238E27FC236}">
                <a16:creationId xmlns:a16="http://schemas.microsoft.com/office/drawing/2014/main" id="{8CEDB325-5457-4549-9E4D-C22CE6FC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--index</a:t>
            </a:r>
          </a:p>
        </p:txBody>
      </p:sp>
      <p:sp>
        <p:nvSpPr>
          <p:cNvPr id="36" name="实际生成202个文本块。向量化为传统TF-IDF/LSA，未使用BGE等神经Embedding，">
            <a:extLst xmlns:a="http://schemas.openxmlformats.org/drawingml/2006/main">
              <a:ext uri="{FF2B5EF4-FFF2-40B4-BE49-F238E27FC236}">
                <a16:creationId xmlns:a16="http://schemas.microsoft.com/office/drawing/2014/main" id="{C0A91F2D-5ACB-426F-B5DC-2A3FA04B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实际生成202个文本块。向量化为传统TF-IDF/LSA，未使用BGE等神经Embedding，未微调千问。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b961f7591843c6">
              <a:extLst>
                <a:ext uri="{96DAC541-7B7A-43D3-8B79-37D633B846F1}">
                  <asvg:svgBlip xmlns:asvg="http://schemas.microsoft.com/office/drawing/2016/SVG/main" r:embed="Rd8ade246b85c40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4be6f686a7490b">
              <a:extLst>
                <a:ext uri="{96DAC541-7B7A-43D3-8B79-37D633B846F1}">
                  <asvg:svgBlip xmlns:asvg="http://schemas.microsoft.com/office/drawing/2016/SVG/main" r:embed="Re801f0d4031043d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8998ec5db247d9">
              <a:extLst>
                <a:ext uri="{96DAC541-7B7A-43D3-8B79-37D633B846F1}">
                  <asvg:svgBlip xmlns:asvg="http://schemas.microsoft.com/office/drawing/2016/SVG/main" r:embed="R5f2e8fbb529643f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f7ef78aa7e4ed3">
              <a:extLst>
                <a:ext uri="{96DAC541-7B7A-43D3-8B79-37D633B846F1}">
                  <asvg:svgBlip xmlns:asvg="http://schemas.microsoft.com/office/drawing/2016/SVG/main" r:embed="R6c39b06c75a7422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2ffc1c08e9d47a5">
              <a:extLst>
                <a:ext uri="{96DAC541-7B7A-43D3-8B79-37D633B846F1}">
                  <asvg:svgBlip xmlns:asvg="http://schemas.microsoft.com/office/drawing/2016/SVG/main" r:embed="R496b935eb2f442f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T1：对照设置与输出文件">
            <a:extLst xmlns:a="http://schemas.openxmlformats.org/drawingml/2006/main">
              <a:ext uri="{FF2B5EF4-FFF2-40B4-BE49-F238E27FC236}">
                <a16:creationId xmlns:a16="http://schemas.microsoft.com/office/drawing/2014/main" id="{6447B5E8-4961-4413-BFD0-57F10E7C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T1：对照设置与输出文件</a:t>
            </a:r>
          </a:p>
        </p:txBody>
      </p:sp>
      <p:sp>
        <p:nvSpPr>
          <p:cNvPr id="30" name="06 / 14">
            <a:extLst xmlns:a="http://schemas.openxmlformats.org/drawingml/2006/main">
              <a:ext uri="{FF2B5EF4-FFF2-40B4-BE49-F238E27FC236}">
                <a16:creationId xmlns:a16="http://schemas.microsoft.com/office/drawing/2014/main" id="{4FA9F4FF-AC18-49E0-A795-457F31E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06 / 14</a:t>
            </a:r>
          </a:p>
        </p:txBody>
      </p:sp>
      <p:graphicFrame>
        <p:nvGraphicFrame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76569-C642-4DFF-9E90-B3493C359B22}"/>
              </a:ext>
            </a:extLst>
          </p:cNvPr>
          <p:cNvGraphicFramePr/>
          <p:nvPr/>
        </p:nvGraphicFramePr>
        <p:xfrm>
          <a:off xmlns:a="http://schemas.openxmlformats.org/drawingml/2006/main" x="619125" y="1333500"/>
          <a:ext xmlns:a="http://schemas.openxmlformats.org/drawingml/2006/main" cx="5095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952750"/>
              </a:tblGrid>
              <a:tr h="489857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控制项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真实设置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489857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同一份20题，L1—L4各5题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89857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生成模型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qwen3:4b-instruct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temperature / seed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0.2 / 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89857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num_ctx / num_predict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16384 / 2048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调用方式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独立对话，交替两组顺序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89857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RAG / 无检索输入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问题+top-5 / 仅问题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截图 S3：已有40条输出的完整性">
            <a:extLst xmlns:a="http://schemas.openxmlformats.org/drawingml/2006/main">
              <a:ext uri="{FF2B5EF4-FFF2-40B4-BE49-F238E27FC236}">
                <a16:creationId xmlns:a16="http://schemas.microsoft.com/office/drawing/2014/main" id="{1C0772B3-AC77-4C74-84BC-45BD2E8E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S3：已有40条输出的完整性</a:t>
            </a:r>
          </a:p>
        </p:txBody>
      </p:sp>
      <p:sp>
        <p:nvSpPr>
          <p:cNvPr id="33" name="截图S3_空白替换区域">
            <a:extLst xmlns:a="http://schemas.openxmlformats.org/drawingml/2006/main">
              <a:ext uri="{FF2B5EF4-FFF2-40B4-BE49-F238E27FC236}">
                <a16:creationId xmlns:a16="http://schemas.microsoft.com/office/drawing/2014/main" id="{BD3C1EB2-9D63-4F96-A285-99CF600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4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32995363-7DA7-4D60-91C5-E5BDD049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35" name="python tools/show_t1_case.py --summary">
            <a:extLst xmlns:a="http://schemas.openxmlformats.org/drawingml/2006/main">
              <a:ext uri="{FF2B5EF4-FFF2-40B4-BE49-F238E27FC236}">
                <a16:creationId xmlns:a16="http://schemas.microsoft.com/office/drawing/2014/main" id="{45D8E14C-1CDE-4DDF-98D9-CD34BF7A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--summary</a:t>
            </a:r>
          </a:p>
        </p:txBody>
      </p:sp>
      <p:sp>
        <p:nvSpPr>
          <p:cNvPr id="36" name="RAG：results/t1_baseline.jsonl&#10;对照：results/t1_no_r">
            <a:extLst xmlns:a="http://schemas.openxmlformats.org/drawingml/2006/main">
              <a:ext uri="{FF2B5EF4-FFF2-40B4-BE49-F238E27FC236}">
                <a16:creationId xmlns:a16="http://schemas.microsoft.com/office/drawing/2014/main" id="{596AB048-F216-445E-830A-58156DAF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8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RAG：results/t1_baseline.jsonl</a:t>
            </a:r>
          </a:p>
          <a:p xmlns:a="http://schemas.openxmlformats.org/drawingml/2006/main">
            <a: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8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对照：results/t1_no_retrieval.jsonl</a:t>
            </a:r>
          </a:p>
        </p:txBody>
      </p:sp>
      <p:sp>
        <p:nvSpPr>
          <p:cNvPr id="37" name="40次调用无接口错误、无长度截断。提示存在资料专用约束差异；原始答案与评分分开保留。">
            <a:extLst xmlns:a="http://schemas.openxmlformats.org/drawingml/2006/main">
              <a:ext uri="{FF2B5EF4-FFF2-40B4-BE49-F238E27FC236}">
                <a16:creationId xmlns:a16="http://schemas.microsoft.com/office/drawing/2014/main" id="{CF4C39B7-0954-4510-BB40-50A2DD4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40次调用无接口错误、无长度截断。提示存在资料专用约束差异；原始答案与评分分开保留。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7538aa70504478">
              <a:extLst>
                <a:ext uri="{96DAC541-7B7A-43D3-8B79-37D633B846F1}">
                  <asvg:svgBlip xmlns:asvg="http://schemas.microsoft.com/office/drawing/2016/SVG/main" r:embed="Rbde31472de7741b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f8f0a53b2446b6">
              <a:extLst>
                <a:ext uri="{96DAC541-7B7A-43D3-8B79-37D633B846F1}">
                  <asvg:svgBlip xmlns:asvg="http://schemas.microsoft.com/office/drawing/2016/SVG/main" r:embed="Ra6d642aad6da44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e4cc2805cb42a5">
              <a:extLst>
                <a:ext uri="{96DAC541-7B7A-43D3-8B79-37D633B846F1}">
                  <asvg:svgBlip xmlns:asvg="http://schemas.microsoft.com/office/drawing/2016/SVG/main" r:embed="Re3dc9eea8648425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1275bc7a894b7a">
              <a:extLst>
                <a:ext uri="{96DAC541-7B7A-43D3-8B79-37D633B846F1}">
                  <asvg:svgBlip xmlns:asvg="http://schemas.microsoft.com/office/drawing/2016/SVG/main" r:embed="R440d10347fa647b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5ab43acf41f4c12">
              <a:extLst>
                <a:ext uri="{96DAC541-7B7A-43D3-8B79-37D633B846F1}">
                  <asvg:svgBlip xmlns:asvg="http://schemas.microsoft.com/office/drawing/2016/SVG/main" r:embed="Re3e8e83e4b9b4c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T1：整体结果与运行成本">
            <a:extLst xmlns:a="http://schemas.openxmlformats.org/drawingml/2006/main">
              <a:ext uri="{FF2B5EF4-FFF2-40B4-BE49-F238E27FC236}">
                <a16:creationId xmlns:a16="http://schemas.microsoft.com/office/drawing/2014/main" id="{CE00A891-7113-4459-AF07-86AEA798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T1：整体结果与运行成本</a:t>
            </a:r>
          </a:p>
        </p:txBody>
      </p:sp>
      <p:sp>
        <p:nvSpPr>
          <p:cNvPr id="30" name="07 / 14">
            <a:extLst xmlns:a="http://schemas.openxmlformats.org/drawingml/2006/main">
              <a:ext uri="{FF2B5EF4-FFF2-40B4-BE49-F238E27FC236}">
                <a16:creationId xmlns:a16="http://schemas.microsoft.com/office/drawing/2014/main" id="{57249873-944C-47F4-9D19-0B3CA99F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07 / 14</a:t>
            </a:r>
          </a:p>
        </p:txBody>
      </p:sp>
      <p:sp>
        <p:nvSpPr>
          <p:cNvPr id="31" name="归一化得分：73.0% 对 25.5%">
            <a:extLst xmlns:a="http://schemas.openxmlformats.org/drawingml/2006/main">
              <a:ext uri="{FF2B5EF4-FFF2-40B4-BE49-F238E27FC236}">
                <a16:creationId xmlns:a16="http://schemas.microsoft.com/office/drawing/2014/main" id="{91229C84-6B44-4BD5-AA93-A301E40B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8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归一化得分：73.0% 对 25.5%</a:t>
            </a:r>
          </a:p>
        </p:txBody>
      </p:sp>
      <p:graphicFrame>
        <p:nvGraphicFramePr>
          <p:cNvPr id="32" name="Chart">
            <a:extLst xmlns:a="http://schemas.openxmlformats.org/drawingml/2006/main">
              <a:ext uri="{FF2B5EF4-FFF2-40B4-BE49-F238E27FC236}">
                <a16:creationId xmlns:a16="http://schemas.microsoft.com/office/drawing/2014/main" id="{4F35B450-17B6-4E40-A3A4-874F8D8CCD0F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51911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3efe0a704a474a"/>
          </a:graphicData>
        </a:graphic>
      </p:graphicFrame>
      <p:graphicFrame>
        <p:nvGraphicFrame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16150C-DD75-4756-83F0-4638962FF571}"/>
              </a:ext>
            </a:extLst>
          </p:cNvPr>
          <p:cNvGraphicFramePr/>
          <p:nvPr/>
        </p:nvGraphicFramePr>
        <p:xfrm>
          <a:off xmlns:a="http://schemas.openxmlformats.org/drawingml/2006/main" x="6286500" y="1676400"/>
          <a:ext xmlns:a="http://schemas.openxmlformats.org/drawingml/2006/main" cx="5286375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381125"/>
                <a:gridCol w="1381125"/>
              </a:tblGrid>
              <a:tr h="6572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RAG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无检索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6572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完成题数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6572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满分题数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平均耗时/秒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60.66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30.07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6572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中位耗时/秒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37.58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15.48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逐题配对：14题较好，3题持平，3题较差">
            <a:extLst xmlns:a="http://schemas.openxmlformats.org/drawingml/2006/main">
              <a:ext uri="{FF2B5EF4-FFF2-40B4-BE49-F238E27FC236}">
                <a16:creationId xmlns:a16="http://schemas.microsoft.com/office/drawing/2014/main" id="{D53DCA3C-3227-4BE9-A4AA-BFF0D4C6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逐题配对：14题较好，3题持平，3题较差</a:t>
            </a:r>
          </a:p>
        </p:txBody>
      </p:sp>
      <p:sp>
        <p:nvSpPr>
          <p:cNvPr id="35" name="助手逐题核对评分，非EM准确率。L1—L3每题0—2分，L4为0—5分，逐题归一化取平均。耗时含">
            <a:extLst xmlns:a="http://schemas.openxmlformats.org/drawingml/2006/main">
              <a:ext uri="{FF2B5EF4-FFF2-40B4-BE49-F238E27FC236}">
                <a16:creationId xmlns:a16="http://schemas.microsoft.com/office/drawing/2014/main" id="{B6F47CB4-5037-4440-BF71-23A96CA9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助手逐题核对评分，非EM准确率。L1—L3每题0—2分，L4为0—5分，逐题归一化取平均。耗时含生成与冷启动。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f93bad711e4594">
              <a:extLst>
                <a:ext uri="{96DAC541-7B7A-43D3-8B79-37D633B846F1}">
                  <asvg:svgBlip xmlns:asvg="http://schemas.microsoft.com/office/drawing/2016/SVG/main" r:embed="R90c1f6e5d9c144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75ac0985cdb487f">
              <a:extLst>
                <a:ext uri="{96DAC541-7B7A-43D3-8B79-37D633B846F1}">
                  <asvg:svgBlip xmlns:asvg="http://schemas.microsoft.com/office/drawing/2016/SVG/main" r:embed="R0e037ab790f44b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4567a9e9184326">
              <a:extLst>
                <a:ext uri="{96DAC541-7B7A-43D3-8B79-37D633B846F1}">
                  <asvg:svgBlip xmlns:asvg="http://schemas.microsoft.com/office/drawing/2016/SVG/main" r:embed="R0b3ef31ba56442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51c964dd83411a">
              <a:extLst>
                <a:ext uri="{96DAC541-7B7A-43D3-8B79-37D633B846F1}">
                  <asvg:svgBlip xmlns:asvg="http://schemas.microsoft.com/office/drawing/2016/SVG/main" r:embed="R9a22e17f772b48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4f9986681b437d">
              <a:extLst>
                <a:ext uri="{96DAC541-7B7A-43D3-8B79-37D633B846F1}">
                  <asvg:svgBlip xmlns:asvg="http://schemas.microsoft.com/office/drawing/2016/SVG/main" r:embed="R19e531afe1814a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T1：分层得分与证据覆盖">
            <a:extLst xmlns:a="http://schemas.openxmlformats.org/drawingml/2006/main">
              <a:ext uri="{FF2B5EF4-FFF2-40B4-BE49-F238E27FC236}">
                <a16:creationId xmlns:a16="http://schemas.microsoft.com/office/drawing/2014/main" id="{D3C1DCCD-C170-4E5D-A5F8-E403C7A8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T1：分层得分与证据覆盖</a:t>
            </a:r>
          </a:p>
        </p:txBody>
      </p:sp>
      <p:sp>
        <p:nvSpPr>
          <p:cNvPr id="30" name="08 / 14">
            <a:extLst xmlns:a="http://schemas.openxmlformats.org/drawingml/2006/main">
              <a:ext uri="{FF2B5EF4-FFF2-40B4-BE49-F238E27FC236}">
                <a16:creationId xmlns:a16="http://schemas.microsoft.com/office/drawing/2014/main" id="{3AE701DE-BB25-4EC8-BF44-FDA2FB2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08 / 14</a:t>
            </a:r>
          </a:p>
        </p:txBody>
      </p:sp>
      <p:graphicFrame>
        <p:nvGraphicFramePr>
          <p:cNvPr id="31" name="Chart">
            <a:extLst xmlns:a="http://schemas.openxmlformats.org/drawingml/2006/main">
              <a:ext uri="{FF2B5EF4-FFF2-40B4-BE49-F238E27FC236}">
                <a16:creationId xmlns:a16="http://schemas.microsoft.com/office/drawing/2014/main" id="{A69AC43C-6749-4F3E-81F7-F3B5FA5A8E39}"/>
              </a:ext>
            </a:extLst>
          </p:cNvPr>
          <p:cNvGraphicFramePr/>
          <p:nvPr/>
        </p:nvGraphicFramePr>
        <p:xfrm>
          <a:off xmlns:a="http://schemas.openxmlformats.org/drawingml/2006/main" x="523875" y="1485900"/>
          <a:ext xmlns:a="http://schemas.openxmlformats.org/drawingml/2006/main" cx="7096125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1779f2cb8b4288"/>
          </a:graphicData>
        </a:graphic>
      </p:graphicFrame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F4948-1353-4FD2-B8A1-7EB2D0B91220}"/>
              </a:ext>
            </a:extLst>
          </p:cNvPr>
          <p:cNvGraphicFramePr/>
          <p:nvPr/>
        </p:nvGraphicFramePr>
        <p:xfrm>
          <a:off xmlns:a="http://schemas.openxmlformats.org/drawingml/2006/main" x="7848600" y="1562100"/>
          <a:ext xmlns:a="http://schemas.openxmlformats.org/drawingml/2006/main" cx="371475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666875"/>
              </a:tblGrid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检索指标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数值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Hit/Recall@5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18/20，90%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MRR@5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0.685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全部gold召回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13/20，65%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平均gold覆盖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80.4%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L4均为52%，没有观察到改善">
            <a:extLst xmlns:a="http://schemas.openxmlformats.org/drawingml/2006/main">
              <a:ext uri="{FF2B5EF4-FFF2-40B4-BE49-F238E27FC236}">
                <a16:creationId xmlns:a16="http://schemas.microsoft.com/office/drawing/2014/main" id="{8F4D4517-EF06-44CF-A377-3FDB1A19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L4均为52%，没有观察到改善</a:t>
            </a:r>
          </a:p>
        </p:txBody>
      </p:sp>
      <p:sp>
        <p:nvSpPr>
          <p:cNvPr id="34" name="Recall采用“至少命中一个gold块”的作业口径。命中部分证据不等于完整回答，评分也不等于检">
            <a:extLst xmlns:a="http://schemas.openxmlformats.org/drawingml/2006/main">
              <a:ext uri="{FF2B5EF4-FFF2-40B4-BE49-F238E27FC236}">
                <a16:creationId xmlns:a16="http://schemas.microsoft.com/office/drawing/2014/main" id="{5E311CCA-104C-4339-AC2D-BBAD2744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Recall采用“至少命中一个gold块”的作业口径。命中部分证据不等于完整回答，评分也不等于检索命中率。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f655cb9eb54409">
              <a:extLst>
                <a:ext uri="{96DAC541-7B7A-43D3-8B79-37D633B846F1}">
                  <asvg:svgBlip xmlns:asvg="http://schemas.microsoft.com/office/drawing/2016/SVG/main" r:embed="Rf9ee08a69e1e43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6423ed0dc24fbc">
              <a:extLst>
                <a:ext uri="{96DAC541-7B7A-43D3-8B79-37D633B846F1}">
                  <asvg:svgBlip xmlns:asvg="http://schemas.microsoft.com/office/drawing/2016/SVG/main" r:embed="R55f16bf96d8642b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8880c92c2847d4">
              <a:extLst>
                <a:ext uri="{96DAC541-7B7A-43D3-8B79-37D633B846F1}">
                  <asvg:svgBlip xmlns:asvg="http://schemas.microsoft.com/office/drawing/2016/SVG/main" r:embed="R90784af3e3a342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f1e2216bb547d3">
              <a:extLst>
                <a:ext uri="{96DAC541-7B7A-43D3-8B79-37D633B846F1}">
                  <asvg:svgBlip xmlns:asvg="http://schemas.microsoft.com/office/drawing/2016/SVG/main" r:embed="Rf84545737ec248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f6c3cecb3b4ca0">
              <a:extLst>
                <a:ext uri="{96DAC541-7B7A-43D3-8B79-37D633B846F1}">
                  <asvg:svgBlip xmlns:asvg="http://schemas.microsoft.com/office/drawing/2016/SVG/main" r:embed="R39d47664a4b249a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成功案例一：q002先修课定位">
            <a:extLst xmlns:a="http://schemas.openxmlformats.org/drawingml/2006/main">
              <a:ext uri="{FF2B5EF4-FFF2-40B4-BE49-F238E27FC236}">
                <a16:creationId xmlns:a16="http://schemas.microsoft.com/office/drawing/2014/main" id="{C7281960-1418-4CBA-BDBA-7EF07B6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成功案例一：q002先修课定位</a:t>
            </a:r>
          </a:p>
        </p:txBody>
      </p:sp>
      <p:sp>
        <p:nvSpPr>
          <p:cNvPr id="30" name="09 / 14">
            <a:extLst xmlns:a="http://schemas.openxmlformats.org/drawingml/2006/main">
              <a:ext uri="{FF2B5EF4-FFF2-40B4-BE49-F238E27FC236}">
                <a16:creationId xmlns:a16="http://schemas.microsoft.com/office/drawing/2014/main" id="{9E3DDC0C-5150-4491-807D-504FADA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09 / 14</a:t>
            </a:r>
          </a:p>
        </p:txBody>
      </p:sp>
      <p:sp>
        <p:nvSpPr>
          <p:cNvPr id="31" name="问题：数据库概论公开课程的先修课？">
            <a:extLst xmlns:a="http://schemas.openxmlformats.org/drawingml/2006/main">
              <a:ext uri="{FF2B5EF4-FFF2-40B4-BE49-F238E27FC236}">
                <a16:creationId xmlns:a16="http://schemas.microsoft.com/office/drawing/2014/main" id="{4D4A1F0A-8084-4C72-9140-6BCC7323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问题：数据库概论公开课程的先修课？</a:t>
            </a:r>
          </a:p>
        </p:txBody>
      </p:sp>
      <p:sp>
        <p:nvSpPr>
          <p:cNvPr id="32" name="原文证据">
            <a:extLst xmlns:a="http://schemas.openxmlformats.org/drawingml/2006/main">
              <a:ext uri="{FF2B5EF4-FFF2-40B4-BE49-F238E27FC236}">
                <a16:creationId xmlns:a16="http://schemas.microsoft.com/office/drawing/2014/main" id="{A8098977-7A26-4679-ADEF-711775D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0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原文证据</a:t>
            </a:r>
          </a:p>
        </p:txBody>
      </p:sp>
      <p:sp>
        <p:nvSpPr>
          <p:cNvPr id="33" name="“本课程要求的先修课为数据结构”">
            <a:extLst xmlns:a="http://schemas.openxmlformats.org/drawingml/2006/main">
              <a:ext uri="{FF2B5EF4-FFF2-40B4-BE49-F238E27FC236}">
                <a16:creationId xmlns:a16="http://schemas.microsoft.com/office/drawing/2014/main" id="{498F72FE-6DB6-496B-B53B-FB5B94B7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“本课程要求的先修课为数据结构”</a:t>
            </a:r>
          </a:p>
        </p:txBody>
      </p:sp>
      <p:sp>
        <p:nvSpPr>
          <p:cNvPr id="34" name="gold：ynu006_p000_00088&#10;实际召回排名：第1位">
            <a:extLst xmlns:a="http://schemas.openxmlformats.org/drawingml/2006/main">
              <a:ext uri="{FF2B5EF4-FFF2-40B4-BE49-F238E27FC236}">
                <a16:creationId xmlns:a16="http://schemas.microsoft.com/office/drawing/2014/main" id="{34B746EA-164C-4E56-8FA8-1950676F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gold：ynu006_p000_00088</a:t>
            </a:r>
          </a:p>
          <a:p xmlns:a="http://schemas.openxmlformats.org/drawingml/2006/main">
            <a: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实际召回排名：第1位</a:t>
            </a:r>
          </a:p>
        </p:txBody>
      </p:sp>
      <p:sp>
        <p:nvSpPr>
          <p:cNvPr id="35" name="RAG原始答案摘录">
            <a:extLst xmlns:a="http://schemas.openxmlformats.org/drawingml/2006/main">
              <a:ext uri="{FF2B5EF4-FFF2-40B4-BE49-F238E27FC236}">
                <a16:creationId xmlns:a16="http://schemas.microsoft.com/office/drawing/2014/main" id="{01CAF3B4-1AFF-49BF-B2CF-5CB50D4E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529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8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RAG原始答案摘录</a:t>
            </a:r>
          </a:p>
        </p:txBody>
      </p:sp>
      <p:sp>
        <p:nvSpPr>
          <p:cNvPr id="36" name="根据云南大学《数据库概论》公开慕课课程大纲，该课程要求的先修课是数据结构[1]。">
            <a:extLst xmlns:a="http://schemas.openxmlformats.org/drawingml/2006/main">
              <a:ext uri="{FF2B5EF4-FFF2-40B4-BE49-F238E27FC236}">
                <a16:creationId xmlns:a16="http://schemas.microsoft.com/office/drawing/2014/main" id="{B27621A8-AEE9-4C9D-89E0-09569C6B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5048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95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根据云南大学《数据库概论》公开慕课课程大纲，该课程要求的先修课是数据结构[1]。</a:t>
            </a:r>
          </a:p>
        </p:txBody>
      </p:sp>
      <p:sp>
        <p:nvSpPr>
          <p:cNvPr id="37" name="截图 S4：回答、引用与实际top-5">
            <a:extLst xmlns:a="http://schemas.openxmlformats.org/drawingml/2006/main">
              <a:ext uri="{FF2B5EF4-FFF2-40B4-BE49-F238E27FC236}">
                <a16:creationId xmlns:a16="http://schemas.microsoft.com/office/drawing/2014/main" id="{F3D4CD76-B88A-4FD6-88E0-00DCB62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S4：回答、引用与实际top-5</a:t>
            </a:r>
          </a:p>
        </p:txBody>
      </p:sp>
      <p:sp>
        <p:nvSpPr>
          <p:cNvPr id="38" name="截图S4_空白替换区域">
            <a:extLst xmlns:a="http://schemas.openxmlformats.org/drawingml/2006/main">
              <a:ext uri="{FF2B5EF4-FFF2-40B4-BE49-F238E27FC236}">
                <a16:creationId xmlns:a16="http://schemas.microsoft.com/office/drawing/2014/main" id="{FBB4268B-27D2-45BD-8F66-3ADDBAB7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9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BE4C10D8-91CA-4F6D-8C9D-B0CE26C2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40" name="python tools/show_t1_case.py q002 --brief">
            <a:extLst xmlns:a="http://schemas.openxmlformats.org/drawingml/2006/main">
              <a:ext uri="{FF2B5EF4-FFF2-40B4-BE49-F238E27FC236}">
                <a16:creationId xmlns:a16="http://schemas.microsoft.com/office/drawing/2014/main" id="{CF4C93F8-39C2-447D-B019-BBF75AAE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q002 --brief</a:t>
            </a:r>
          </a:p>
        </p:txBody>
      </p:sp>
      <p:sp>
        <p:nvSpPr>
          <p:cNvPr id="41" name="无检索原始回答：“我不知道云南大学《数据库概论》公开慕课课程大纲的具体内容”。本次评分RAG 2">
            <a:extLst xmlns:a="http://schemas.openxmlformats.org/drawingml/2006/main">
              <a:ext uri="{FF2B5EF4-FFF2-40B4-BE49-F238E27FC236}">
                <a16:creationId xmlns:a16="http://schemas.microsoft.com/office/drawing/2014/main" id="{69CEB212-06D8-4277-B0CE-64C4497B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无检索原始回答：“我不知道云南大学《数据库概论》公开慕课课程大纲的具体内容”。本次评分RAG 2/2，对照0/2。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284c13329b45b5">
              <a:extLst>
                <a:ext uri="{96DAC541-7B7A-43D3-8B79-37D633B846F1}">
                  <asvg:svgBlip xmlns:asvg="http://schemas.microsoft.com/office/drawing/2016/SVG/main" r:embed="Rd15bf25addc04fb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767e08994b4f69">
              <a:extLst>
                <a:ext uri="{96DAC541-7B7A-43D3-8B79-37D633B846F1}">
                  <asvg:svgBlip xmlns:asvg="http://schemas.microsoft.com/office/drawing/2016/SVG/main" r:embed="R87ed8441ed3c420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1907ab5335f4544">
              <a:extLst>
                <a:ext uri="{96DAC541-7B7A-43D3-8B79-37D633B846F1}">
                  <asvg:svgBlip xmlns:asvg="http://schemas.microsoft.com/office/drawing/2016/SVG/main" r:embed="R43bef8531f6c41f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4413b58fd944e0">
              <a:extLst>
                <a:ext uri="{96DAC541-7B7A-43D3-8B79-37D633B846F1}">
                  <asvg:svgBlip xmlns:asvg="http://schemas.microsoft.com/office/drawing/2016/SVG/main" r:embed="Ra78304e82e7e46a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cfc7b8f7f144f6">
              <a:extLst>
                <a:ext uri="{96DAC541-7B7A-43D3-8B79-37D633B846F1}">
                  <asvg:svgBlip xmlns:asvg="http://schemas.microsoft.com/office/drawing/2016/SVG/main" r:embed="R82e43a82bc79496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成功案例二：q006跨条款比较">
            <a:extLst xmlns:a="http://schemas.openxmlformats.org/drawingml/2006/main">
              <a:ext uri="{FF2B5EF4-FFF2-40B4-BE49-F238E27FC236}">
                <a16:creationId xmlns:a16="http://schemas.microsoft.com/office/drawing/2014/main" id="{D265333D-811E-4D05-A4AD-1EBCB71D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成功案例二：q006跨条款比较</a:t>
            </a:r>
          </a:p>
        </p:txBody>
      </p:sp>
      <p:sp>
        <p:nvSpPr>
          <p:cNvPr id="30" name="10 / 14">
            <a:extLst xmlns:a="http://schemas.openxmlformats.org/drawingml/2006/main">
              <a:ext uri="{FF2B5EF4-FFF2-40B4-BE49-F238E27FC236}">
                <a16:creationId xmlns:a16="http://schemas.microsoft.com/office/drawing/2014/main" id="{7B9FDBD9-F649-43E0-994A-901E6AB0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10 / 14</a:t>
            </a:r>
          </a:p>
        </p:txBody>
      </p:sp>
      <p:sp>
        <p:nvSpPr>
          <p:cNvPr id="31" name="问题：两类认定上限相差多少？">
            <a:extLst xmlns:a="http://schemas.openxmlformats.org/drawingml/2006/main">
              <a:ext uri="{FF2B5EF4-FFF2-40B4-BE49-F238E27FC236}">
                <a16:creationId xmlns:a16="http://schemas.microsoft.com/office/drawing/2014/main" id="{243943B2-DF0D-4B22-AEFF-AFC20567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问题：两类认定上限相差多少？</a:t>
            </a:r>
          </a:p>
        </p:txBody>
      </p: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7988ED-131B-4C3D-A8D5-D06E4214E5F3}"/>
              </a:ext>
            </a:extLst>
          </p:cNvPr>
          <p:cNvGraphicFramePr/>
          <p:nvPr/>
        </p:nvGraphicFramePr>
        <p:xfrm>
          <a:off xmlns:a="http://schemas.openxmlformats.org/drawingml/2006/main" x="619125" y="1924050"/>
          <a:ext xmlns:a="http://schemas.openxmlformats.org/drawingml/2006/main" cx="5095875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1190625"/>
                <a:gridCol w="1666875"/>
              </a:tblGrid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条款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选修上限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专业教育上限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第四条 转专业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10学分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5学分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61912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第八条 辅修/微专业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15学分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5学分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AG结论：15 − 10 = 5学分&#10;无检索回答：“不知道。”">
            <a:extLst xmlns:a="http://schemas.openxmlformats.org/drawingml/2006/main">
              <a:ext uri="{FF2B5EF4-FFF2-40B4-BE49-F238E27FC236}">
                <a16:creationId xmlns:a16="http://schemas.microsoft.com/office/drawing/2014/main" id="{95F575B4-CF3F-4325-BBD8-A8CABBB6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RAG结论：15 − 10 = 5学分</a:t>
            </a:r>
          </a:p>
          <a:p xmlns:a="http://schemas.openxmlformats.org/drawingml/2006/main">
            <a: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无检索回答：“不知道。”</a:t>
            </a:r>
          </a:p>
        </p:txBody>
      </p:sp>
      <p:sp>
        <p:nvSpPr>
          <p:cNvPr id="34" name="核心块：00111、00112&#10;实际gold覆盖：2/3">
            <a:extLst xmlns:a="http://schemas.openxmlformats.org/drawingml/2006/main">
              <a:ext uri="{FF2B5EF4-FFF2-40B4-BE49-F238E27FC236}">
                <a16:creationId xmlns:a16="http://schemas.microsoft.com/office/drawing/2014/main" id="{DC6D0A02-006F-4B40-920A-BDB1E7B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核心块：00111、00112</a:t>
            </a:r>
          </a:p>
          <a:p xmlns:a="http://schemas.openxmlformats.org/drawingml/2006/main">
            <a: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实际gold覆盖：2/3</a:t>
            </a:r>
          </a:p>
        </p:txBody>
      </p:sp>
      <p:sp>
        <p:nvSpPr>
          <p:cNvPr id="35" name="截图 S5：多条款引用与计算结果">
            <a:extLst xmlns:a="http://schemas.openxmlformats.org/drawingml/2006/main">
              <a:ext uri="{FF2B5EF4-FFF2-40B4-BE49-F238E27FC236}">
                <a16:creationId xmlns:a16="http://schemas.microsoft.com/office/drawing/2014/main" id="{49849995-C312-4E6C-A62B-389EBCC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S5：多条款引用与计算结果</a:t>
            </a:r>
          </a:p>
        </p:txBody>
      </p:sp>
      <p:sp>
        <p:nvSpPr>
          <p:cNvPr id="36" name="截图S5_空白替换区域">
            <a:extLst xmlns:a="http://schemas.openxmlformats.org/drawingml/2006/main">
              <a:ext uri="{FF2B5EF4-FFF2-40B4-BE49-F238E27FC236}">
                <a16:creationId xmlns:a16="http://schemas.microsoft.com/office/drawing/2014/main" id="{278E233D-9829-49FB-AC05-028EE796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7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D2DD295A-F700-4340-AFE6-6D1C307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38" name="python tools/show_t1_case.py q006 --brief">
            <a:extLst xmlns:a="http://schemas.openxmlformats.org/drawingml/2006/main">
              <a:ext uri="{FF2B5EF4-FFF2-40B4-BE49-F238E27FC236}">
                <a16:creationId xmlns:a16="http://schemas.microsoft.com/office/drawing/2014/main" id="{BA3B9BE6-CF57-4B09-A24E-BCB30B4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q006 --brief</a:t>
            </a:r>
          </a:p>
        </p:txBody>
      </p:sp>
      <p:sp>
        <p:nvSpPr>
          <p:cNvPr id="39" name="数字取自2026年学分认定第四条、第八条。本题询问核心比较，虽未召回适用年级块，仍有足够依据作答">
            <a:extLst xmlns:a="http://schemas.openxmlformats.org/drawingml/2006/main">
              <a:ext uri="{FF2B5EF4-FFF2-40B4-BE49-F238E27FC236}">
                <a16:creationId xmlns:a16="http://schemas.microsoft.com/office/drawing/2014/main" id="{CA4AD9A4-3049-4579-8DAE-B239178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数字取自2026年学分认定第四条、第八条。本题询问核心比较，虽未召回适用年级块，仍有足够依据作答。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ad441771a7a4c13">
              <a:extLst>
                <a:ext uri="{96DAC541-7B7A-43D3-8B79-37D633B846F1}">
                  <asvg:svgBlip xmlns:asvg="http://schemas.microsoft.com/office/drawing/2016/SVG/main" r:embed="R1dab89cf29b74c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f1ace116af4282">
              <a:extLst>
                <a:ext uri="{96DAC541-7B7A-43D3-8B79-37D633B846F1}">
                  <asvg:svgBlip xmlns:asvg="http://schemas.microsoft.com/office/drawing/2016/SVG/main" r:embed="R350bb367bbfc4ce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3589d2f2e549ec">
              <a:extLst>
                <a:ext uri="{96DAC541-7B7A-43D3-8B79-37D633B846F1}">
                  <asvg:svgBlip xmlns:asvg="http://schemas.microsoft.com/office/drawing/2016/SVG/main" r:embed="R9cfd77bf8cfc4df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201680c9684308">
              <a:extLst>
                <a:ext uri="{96DAC541-7B7A-43D3-8B79-37D633B846F1}">
                  <asvg:svgBlip xmlns:asvg="http://schemas.microsoft.com/office/drawing/2016/SVG/main" r:embed="Rd946155aaa7b45e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25b27e004647c6">
              <a:extLst>
                <a:ext uri="{96DAC541-7B7A-43D3-8B79-37D633B846F1}">
                  <asvg:svgBlip xmlns:asvg="http://schemas.microsoft.com/office/drawing/2016/SVG/main" r:embed="R04c62badf99b483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失败案例一：q001漏掉毕业要求">
            <a:extLst xmlns:a="http://schemas.openxmlformats.org/drawingml/2006/main">
              <a:ext uri="{FF2B5EF4-FFF2-40B4-BE49-F238E27FC236}">
                <a16:creationId xmlns:a16="http://schemas.microsoft.com/office/drawing/2014/main" id="{9D9AC1D8-FFA5-40B6-A266-91EA7E8E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失败案例一：q001漏掉毕业要求</a:t>
            </a:r>
          </a:p>
        </p:txBody>
      </p:sp>
      <p:sp>
        <p:nvSpPr>
          <p:cNvPr id="30" name="11 / 14">
            <a:extLst xmlns:a="http://schemas.openxmlformats.org/drawingml/2006/main">
              <a:ext uri="{FF2B5EF4-FFF2-40B4-BE49-F238E27FC236}">
                <a16:creationId xmlns:a16="http://schemas.microsoft.com/office/drawing/2014/main" id="{E8694447-0E65-4ECC-9362-9A60231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11 / 14</a:t>
            </a:r>
          </a:p>
        </p:txBody>
      </p:sp>
      <p:sp>
        <p:nvSpPr>
          <p:cNvPr id="31" name="正确依据：第一课堂161.5学分，原文件第8页">
            <a:extLst xmlns:a="http://schemas.openxmlformats.org/drawingml/2006/main">
              <a:ext uri="{FF2B5EF4-FFF2-40B4-BE49-F238E27FC236}">
                <a16:creationId xmlns:a16="http://schemas.microsoft.com/office/drawing/2014/main" id="{96725275-1464-4094-BBAF-2281D379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953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正确依据：第一课堂161.5学分，原文件第8页</a:t>
            </a:r>
          </a:p>
        </p:txBody>
      </p: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6F988A-49BD-4A5C-BF2A-2F84B4C66F14}"/>
              </a:ext>
            </a:extLst>
          </p:cNvPr>
          <p:cNvGraphicFramePr/>
          <p:nvPr/>
        </p:nvGraphicFramePr>
        <p:xfrm>
          <a:off xmlns:a="http://schemas.openxmlformats.org/drawingml/2006/main" x="619125" y="1819275"/>
          <a:ext xmlns:a="http://schemas.openxmlformats.org/drawingml/2006/main" cx="5095875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4333875"/>
              </a:tblGrid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排名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实际召回的chunk 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ynu001_p018_00029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ynu001_p001_00000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ynu001_p009_00014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ynu004_p007_00069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ynu001_p017_00028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3" name="缺失gold：ynu001_p008_00013">
            <a:extLst xmlns:a="http://schemas.openxmlformats.org/drawingml/2006/main">
              <a:ext uri="{FF2B5EF4-FFF2-40B4-BE49-F238E27FC236}">
                <a16:creationId xmlns:a16="http://schemas.microsoft.com/office/drawing/2014/main" id="{B0754EBF-BEC7-4C57-A5C0-CC507FC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缺失gold：ynu001_p008_00013</a:t>
            </a:r>
          </a:p>
        </p:txBody>
      </p:sp>
      <p:sp>
        <p:nvSpPr>
          <p:cNvPr id="34" name="RAG：“资料不足。”&#10;无检索：“160学分”（也错误）">
            <a:extLst xmlns:a="http://schemas.openxmlformats.org/drawingml/2006/main">
              <a:ext uri="{FF2B5EF4-FFF2-40B4-BE49-F238E27FC236}">
                <a16:creationId xmlns:a16="http://schemas.microsoft.com/office/drawing/2014/main" id="{57C18851-97BE-43A5-9FC6-BD44B470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509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RAG：“资料不足。”</a:t>
            </a:r>
          </a:p>
          <a:p xmlns:a="http://schemas.openxmlformats.org/drawingml/2006/main"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无检索：“160学分”（也错误）</a:t>
            </a:r>
          </a:p>
        </p:txBody>
      </p:sp>
      <p:sp>
        <p:nvSpPr>
          <p:cNvPr id="35" name="截图 S6：检索列表与拒答结果">
            <a:extLst xmlns:a="http://schemas.openxmlformats.org/drawingml/2006/main">
              <a:ext uri="{FF2B5EF4-FFF2-40B4-BE49-F238E27FC236}">
                <a16:creationId xmlns:a16="http://schemas.microsoft.com/office/drawing/2014/main" id="{FDFF964F-4820-4330-9EBD-856CD46A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S6：检索列表与拒答结果</a:t>
            </a:r>
          </a:p>
        </p:txBody>
      </p:sp>
      <p:sp>
        <p:nvSpPr>
          <p:cNvPr id="36" name="截图S6_空白替换区域">
            <a:extLst xmlns:a="http://schemas.openxmlformats.org/drawingml/2006/main">
              <a:ext uri="{FF2B5EF4-FFF2-40B4-BE49-F238E27FC236}">
                <a16:creationId xmlns:a16="http://schemas.microsoft.com/office/drawing/2014/main" id="{6F9994F7-8085-4E79-BB05-21D5A51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7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17A51703-C6CC-46D0-985C-7187B9C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38" name="python tools/show_t1_case.py q001 --brief">
            <a:extLst xmlns:a="http://schemas.openxmlformats.org/drawingml/2006/main">
              <a:ext uri="{FF2B5EF4-FFF2-40B4-BE49-F238E27FC236}">
                <a16:creationId xmlns:a16="http://schemas.microsoft.com/office/drawing/2014/main" id="{1BD8F239-5EC1-4D44-BD6A-7D4CDBBE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q001 --brief</a:t>
            </a:r>
          </a:p>
        </p:txBody>
      </p:sp>
      <p:sp>
        <p:nvSpPr>
          <p:cNvPr id="39" name="归因：关键证据未召回。top-5虽含软件工程方案，却集中于封面、附录等片段；不是看到文件名就算召">
            <a:extLst xmlns:a="http://schemas.openxmlformats.org/drawingml/2006/main">
              <a:ext uri="{FF2B5EF4-FFF2-40B4-BE49-F238E27FC236}">
                <a16:creationId xmlns:a16="http://schemas.microsoft.com/office/drawing/2014/main" id="{02773EB2-0ACF-4627-BA2B-89FAFF4B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归因：关键证据未召回。top-5虽含软件工程方案，却集中于封面、附录等片段；不是看到文件名就算召回成功。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bc0d6370ef4416">
              <a:extLst>
                <a:ext uri="{96DAC541-7B7A-43D3-8B79-37D633B846F1}">
                  <asvg:svgBlip xmlns:asvg="http://schemas.microsoft.com/office/drawing/2016/SVG/main" r:embed="Rfae015b2f90c469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62196947724227">
              <a:extLst>
                <a:ext uri="{96DAC541-7B7A-43D3-8B79-37D633B846F1}">
                  <asvg:svgBlip xmlns:asvg="http://schemas.microsoft.com/office/drawing/2016/SVG/main" r:embed="R0717eeab9d4f44c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e289829f40409c">
              <a:extLst>
                <a:ext uri="{96DAC541-7B7A-43D3-8B79-37D633B846F1}">
                  <asvg:svgBlip xmlns:asvg="http://schemas.microsoft.com/office/drawing/2016/SVG/main" r:embed="R10ccd01c6d1447a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d17a34974a4dc1">
              <a:extLst>
                <a:ext uri="{96DAC541-7B7A-43D3-8B79-37D633B846F1}">
                  <asvg:svgBlip xmlns:asvg="http://schemas.microsoft.com/office/drawing/2016/SVG/main" r:embed="R5d5d3abff83a4e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07d8f057dd45be">
              <a:extLst>
                <a:ext uri="{96DAC541-7B7A-43D3-8B79-37D633B846F1}">
                  <asvg:svgBlip xmlns:asvg="http://schemas.microsoft.com/office/drawing/2016/SVG/main" r:embed="Rfef5d98ab3ec4e5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失败案例二：q003漏掉缓考条款">
            <a:extLst xmlns:a="http://schemas.openxmlformats.org/drawingml/2006/main">
              <a:ext uri="{FF2B5EF4-FFF2-40B4-BE49-F238E27FC236}">
                <a16:creationId xmlns:a16="http://schemas.microsoft.com/office/drawing/2014/main" id="{7F6F10A9-9DC9-4E59-95D7-15AC5CB3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失败案例二：q003漏掉缓考条款</a:t>
            </a:r>
          </a:p>
        </p:txBody>
      </p:sp>
      <p:sp>
        <p:nvSpPr>
          <p:cNvPr id="30" name="12 / 14">
            <a:extLst xmlns:a="http://schemas.openxmlformats.org/drawingml/2006/main">
              <a:ext uri="{FF2B5EF4-FFF2-40B4-BE49-F238E27FC236}">
                <a16:creationId xmlns:a16="http://schemas.microsoft.com/office/drawing/2014/main" id="{B16CBF3A-EC1E-464A-9194-4BA5854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12 / 14</a:t>
            </a:r>
          </a:p>
        </p:txBody>
      </p:sp>
      <p:sp>
        <p:nvSpPr>
          <p:cNvPr id="31" name="原文：“一般不得超过两门”，位于2020文件第3页">
            <a:extLst xmlns:a="http://schemas.openxmlformats.org/drawingml/2006/main">
              <a:ext uri="{FF2B5EF4-FFF2-40B4-BE49-F238E27FC236}">
                <a16:creationId xmlns:a16="http://schemas.microsoft.com/office/drawing/2014/main" id="{EDB4271A-2C38-4B75-9AE6-6B339A0B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953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原文：“一般不得超过两门”，位于2020文件第3页</a:t>
            </a:r>
          </a:p>
        </p:txBody>
      </p: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54711B-0CEE-484B-80CD-B27D2CF206CC}"/>
              </a:ext>
            </a:extLst>
          </p:cNvPr>
          <p:cNvGraphicFramePr/>
          <p:nvPr/>
        </p:nvGraphicFramePr>
        <p:xfrm>
          <a:off xmlns:a="http://schemas.openxmlformats.org/drawingml/2006/main" x="619125" y="1819275"/>
          <a:ext xmlns:a="http://schemas.openxmlformats.org/drawingml/2006/main" cx="5095875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4333875"/>
              </a:tblGrid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排名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实际召回的chunk 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ynu012_p001_00123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ynu012_p002_00124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ynu011_p001_00117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ynu012_p010_00132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275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ynu012_p006_00128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33" name="缺失gold：ynu012_p003_00125">
            <a:extLst xmlns:a="http://schemas.openxmlformats.org/drawingml/2006/main">
              <a:ext uri="{FF2B5EF4-FFF2-40B4-BE49-F238E27FC236}">
                <a16:creationId xmlns:a16="http://schemas.microsoft.com/office/drawing/2014/main" id="{B6450471-31B7-4801-B123-740A9D84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缺失gold：ynu012_p003_00125</a:t>
            </a:r>
          </a:p>
        </p:txBody>
      </p:sp>
      <p:sp>
        <p:nvSpPr>
          <p:cNvPr id="34" name="RAG：“答案：资料不足。”&#10;无检索：“一般不得超过2门”（正确）">
            <a:extLst xmlns:a="http://schemas.openxmlformats.org/drawingml/2006/main">
              <a:ext uri="{FF2B5EF4-FFF2-40B4-BE49-F238E27FC236}">
                <a16:creationId xmlns:a16="http://schemas.microsoft.com/office/drawing/2014/main" id="{34A07E47-F449-49E7-A5CF-A23C971B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509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RAG：“答案：资料不足。”</a:t>
            </a:r>
          </a:p>
          <a:p xmlns:a="http://schemas.openxmlformats.org/drawingml/2006/main">
            <a:pPr algn="l">
              <a:defRPr sz="18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无检索：“一般不得超过2门”（正确）</a:t>
            </a:r>
          </a:p>
        </p:txBody>
      </p:sp>
      <p:sp>
        <p:nvSpPr>
          <p:cNvPr id="35" name="截图 S7：关键页缺失与两组答案">
            <a:extLst xmlns:a="http://schemas.openxmlformats.org/drawingml/2006/main">
              <a:ext uri="{FF2B5EF4-FFF2-40B4-BE49-F238E27FC236}">
                <a16:creationId xmlns:a16="http://schemas.microsoft.com/office/drawing/2014/main" id="{272C2807-5AA9-451F-84CD-0FE9B81A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S7：关键页缺失与两组答案</a:t>
            </a:r>
          </a:p>
        </p:txBody>
      </p:sp>
      <p:sp>
        <p:nvSpPr>
          <p:cNvPr id="36" name="截图S7_空白替换区域">
            <a:extLst xmlns:a="http://schemas.openxmlformats.org/drawingml/2006/main">
              <a:ext uri="{FF2B5EF4-FFF2-40B4-BE49-F238E27FC236}">
                <a16:creationId xmlns:a16="http://schemas.microsoft.com/office/drawing/2014/main" id="{48ADEE01-F28A-44FF-A9BF-F791BD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7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26D614E5-5C66-49AA-9F3A-8E304175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38" name="python tools/show_t1_case.py q003 --brief">
            <a:extLst xmlns:a="http://schemas.openxmlformats.org/drawingml/2006/main">
              <a:ext uri="{FF2B5EF4-FFF2-40B4-BE49-F238E27FC236}">
                <a16:creationId xmlns:a16="http://schemas.microsoft.com/office/drawing/2014/main" id="{5CAA0643-6D8F-4F7D-9C1F-6DFEC86D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q003 --brief</a:t>
            </a:r>
          </a:p>
        </p:txBody>
      </p:sp>
      <p:sp>
        <p:nvSpPr>
          <p:cNvPr id="39" name="归因：关键证据未召回。模型已有知识可能答对；不完整Context与“仅按资料回答”约束也可能使R">
            <a:extLst xmlns:a="http://schemas.openxmlformats.org/drawingml/2006/main">
              <a:ext uri="{FF2B5EF4-FFF2-40B4-BE49-F238E27FC236}">
                <a16:creationId xmlns:a16="http://schemas.microsoft.com/office/drawing/2014/main" id="{A830D1C3-4C4E-4101-B44E-F53386D3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归因：关键证据未召回。模型已有知识可能答对；不完整Context与“仅按资料回答”约束也可能使RAG表现更差。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AB174259-8538-4FFF-871F-6C4DD0B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CBAF79-F1A7-46B0-B380-22F188D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3a49c681f24b73">
              <a:extLst>
                <a:ext uri="{96DAC541-7B7A-43D3-8B79-37D633B846F1}">
                  <asvg:svgBlip xmlns:asvg="http://schemas.microsoft.com/office/drawing/2016/SVG/main" r:embed="R9c52570c6b6c444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0F9003-2FE4-4FC9-9469-F043F47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6c5f637c094a9d">
              <a:extLst>
                <a:ext uri="{96DAC541-7B7A-43D3-8B79-37D633B846F1}">
                  <asvg:svgBlip xmlns:asvg="http://schemas.microsoft.com/office/drawing/2016/SVG/main" r:embed="Re06ff3f8dade4b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FB7F4750-165B-4D62-8BC5-BE549E07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15CC0609-C4D4-4BE2-923D-DB14805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C7B4D3-6B4A-4DFB-BBA4-46ECAA4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BEE454-1192-4704-B7D5-B28893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E5EE88-7173-46B7-8CA1-3C8D577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0DC29F7-A806-4047-8637-6163826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849BC0-A651-4F02-ACFF-ADD9D87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3dc4f3195b4903">
              <a:extLst>
                <a:ext uri="{96DAC541-7B7A-43D3-8B79-37D633B846F1}">
                  <asvg:svgBlip xmlns:asvg="http://schemas.microsoft.com/office/drawing/2016/SVG/main" r:embed="Ra87c46c7a6cc44f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75167B3-E8DA-4D8D-BE55-FACDCE6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d7bbc9f6e4115">
              <a:extLst>
                <a:ext uri="{96DAC541-7B7A-43D3-8B79-37D633B846F1}">
                  <asvg:svgBlip xmlns:asvg="http://schemas.microsoft.com/office/drawing/2016/SVG/main" r:embed="R9e0cbdf9f47546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9C900B-1ADF-492A-A65A-C1C9BDB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49455c66ac4099">
              <a:extLst>
                <a:ext uri="{96DAC541-7B7A-43D3-8B79-37D633B846F1}">
                  <asvg:svgBlip xmlns:asvg="http://schemas.microsoft.com/office/drawing/2016/SVG/main" r:embed="Rf7e1de41bf8a487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513F1D-7D69-411A-8501-AF92A8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0EE57C-61D6-45D2-856F-F03F0FE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69F5DAC-7E98-49F0-8BA7-2964A54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687DAA5-8057-4E5D-A176-1C19E14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4697CBD-8137-4FB3-8EE7-F4471E4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199604-CF29-4CE2-AD0B-3DAC1F5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C7F4D5-3D17-47FE-A218-30C15C6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FF28FAC-001C-47F4-B072-ED127E5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E4094D-3F09-46EB-94AD-CEAEE05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C6F60BB-338A-442E-B737-C362182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9" name="生成缺陷：证据到位仍可能错配">
            <a:extLst xmlns:a="http://schemas.openxmlformats.org/drawingml/2006/main">
              <a:ext uri="{FF2B5EF4-FFF2-40B4-BE49-F238E27FC236}">
                <a16:creationId xmlns:a16="http://schemas.microsoft.com/office/drawing/2014/main" id="{C6A5D454-08BE-497B-9852-74957025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0500"/>
            <a:ext cx="928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7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生成缺陷：证据到位仍可能错配</a:t>
            </a:r>
          </a:p>
        </p:txBody>
      </p:sp>
      <p:sp>
        <p:nvSpPr>
          <p:cNvPr id="30" name="13 / 14">
            <a:extLst xmlns:a="http://schemas.openxmlformats.org/drawingml/2006/main">
              <a:ext uri="{FF2B5EF4-FFF2-40B4-BE49-F238E27FC236}">
                <a16:creationId xmlns:a16="http://schemas.microsoft.com/office/drawing/2014/main" id="{31D3241C-D0D2-468B-A448-B5065F4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13 / 14</a:t>
            </a:r>
          </a:p>
        </p:txBody>
      </p:sp>
      <p:sp>
        <p:nvSpPr>
          <p:cNvPr id="31" name="q017：智慧医疗与智能传播的选择建议">
            <a:extLst xmlns:a="http://schemas.openxmlformats.org/drawingml/2006/main">
              <a:ext uri="{FF2B5EF4-FFF2-40B4-BE49-F238E27FC236}">
                <a16:creationId xmlns:a16="http://schemas.microsoft.com/office/drawing/2014/main" id="{9503B535-E09C-4217-B47A-FD5B0DB4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7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q017：智慧医疗与智能传播的选择建议</a:t>
            </a:r>
          </a:p>
        </p:txBody>
      </p: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9F6F79-F2EA-4B1D-82B8-4C427C3F2F97}"/>
              </a:ext>
            </a:extLst>
          </p:cNvPr>
          <p:cNvGraphicFramePr/>
          <p:nvPr/>
        </p:nvGraphicFramePr>
        <p:xfrm>
          <a:off xmlns:a="http://schemas.openxmlformats.org/drawingml/2006/main" x="619125" y="1943100"/>
          <a:ext xmlns:a="http://schemas.openxmlformats.org/drawingml/2006/main" cx="5095875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571750"/>
              </a:tblGrid>
              <a:tr h="5715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原文对象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正确咨询电话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T w="9525">
                      <a:solidFill>
                        <a:srgbClr val="DDE2EC"/>
                      </a:solidFill>
                      <a:prstDash val="solid"/>
                    </a:lnT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1D2B5B"/>
                    </a:solidFill>
                  </a:tcPr>
                </a:tc>
              </a:tr>
              <a:tr h="5715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智慧医疗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0871-65931540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571500"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智慧城市与数字治理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DE2EC"/>
                      </a:solidFill>
                      <a:prstDash val="solid"/>
                    </a:lnL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22A36"/>
                          </a:solidFill>
                          <a:latin typeface="等线"/>
                          <a:ea typeface="等线"/>
                          <a:cs typeface="等线"/>
                        </a:rPr>
                        <a:t>0871-65931520，陈老师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DE2EC"/>
                      </a:solidFill>
                      <a:prstDash val="solid"/>
                    </a:lnR>
                    <a:lnB w="9525">
                      <a:solidFill>
                        <a:srgbClr val="DD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模型却把65931520及陈老师&#10;写成智慧医疗的咨询方式">
            <a:extLst xmlns:a="http://schemas.openxmlformats.org/drawingml/2006/main">
              <a:ext uri="{FF2B5EF4-FFF2-40B4-BE49-F238E27FC236}">
                <a16:creationId xmlns:a16="http://schemas.microsoft.com/office/drawing/2014/main" id="{5CDF9FB8-7D16-4E40-9B29-8D5AA1AE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5095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0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模型却把65931520及陈老师</a:t>
            </a:r>
          </a:p>
          <a:p xmlns:a="http://schemas.openxmlformats.org/drawingml/2006/main">
            <a:pPr algn="l">
              <a:defRPr sz="20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0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写成智慧医疗的咨询方式</a:t>
            </a:r>
          </a:p>
        </p:txBody>
      </p:sp>
      <p:sp>
        <p:nvSpPr>
          <p:cNvPr id="34" name="gold覆盖2/2，正确电话也在Context中&#10;方向推荐基本合理，联系信息仍错">
            <a:extLst xmlns:a="http://schemas.openxmlformats.org/drawingml/2006/main">
              <a:ext uri="{FF2B5EF4-FFF2-40B4-BE49-F238E27FC236}">
                <a16:creationId xmlns:a16="http://schemas.microsoft.com/office/drawing/2014/main" id="{67A472AF-9599-475B-9CB9-B0393907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509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gold覆盖2/2，正确电话也在Context中</a:t>
            </a:r>
          </a:p>
          <a:p xmlns:a="http://schemas.openxmlformats.org/drawingml/2006/main">
            <a:pPr algn="l">
              <a:defRPr sz="17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7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方向推荐基本合理，联系信息仍错</a:t>
            </a:r>
          </a:p>
        </p:txBody>
      </p:sp>
      <p:sp>
        <p:nvSpPr>
          <p:cNvPr id="35" name="截图 S8：错配原句或引用越界">
            <a:extLst xmlns:a="http://schemas.openxmlformats.org/drawingml/2006/main">
              <a:ext uri="{FF2B5EF4-FFF2-40B4-BE49-F238E27FC236}">
                <a16:creationId xmlns:a16="http://schemas.microsoft.com/office/drawing/2014/main" id="{EFC013E7-CF6D-4D80-9236-6FC82A77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截图 S8：错配原句或引用越界</a:t>
            </a:r>
          </a:p>
        </p:txBody>
      </p:sp>
      <p:sp>
        <p:nvSpPr>
          <p:cNvPr id="36" name="截图S8_空白替换区域">
            <a:extLst xmlns:a="http://schemas.openxmlformats.org/drawingml/2006/main">
              <a:ext uri="{FF2B5EF4-FFF2-40B4-BE49-F238E27FC236}">
                <a16:creationId xmlns:a16="http://schemas.microsoft.com/office/drawing/2014/main" id="{C6F64A7C-65D4-44BA-BF22-2063127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81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EA9BC"/>
            </a:solidFill>
            <a:prstDash val="dash"/>
          </a:ln>
        </p:spPr>
      </p:sp>
      <p:sp>
        <p:nvSpPr>
          <p:cNvPr id="37" name="待插入运行截图">
            <a:extLst xmlns:a="http://schemas.openxmlformats.org/drawingml/2006/main">
              <a:ext uri="{FF2B5EF4-FFF2-40B4-BE49-F238E27FC236}">
                <a16:creationId xmlns:a16="http://schemas.microsoft.com/office/drawing/2014/main" id="{7B0143BB-E8F0-45AD-B0CA-DD9137DD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defPPr>
            <a:lvl1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1pPr>
            <a:lvl2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2pPr>
            <a:lvl3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3pPr>
            <a:lvl4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4pPr>
            <a:lvl5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5pPr>
            <a:lvl6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6pPr>
            <a:lvl7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7pPr>
            <a:lvl8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8pPr>
            <a:lvl9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9EA9BC"/>
                </a:solidFill>
                <a:latin typeface="等线"/>
                <a:ea typeface="等线"/>
                <a:cs typeface="等线"/>
              </a:defRPr>
            </a:pPr>
            <a:r>
              <a:rPr sz="1875" b="0">
                <a:solidFill>
                  <a:srgbClr val="9EA9BC"/>
                </a:solidFill>
                <a:latin typeface="等线"/>
                <a:ea typeface="等线"/>
                <a:cs typeface="等线"/>
              </a:rPr>
              <a:t>待插入运行截图</a:t>
            </a:r>
          </a:p>
        </p:txBody>
      </p:sp>
      <p:sp>
        <p:nvSpPr>
          <p:cNvPr id="38" name="python tools/show_t1_case.py q017 --brief">
            <a:extLst xmlns:a="http://schemas.openxmlformats.org/drawingml/2006/main">
              <a:ext uri="{FF2B5EF4-FFF2-40B4-BE49-F238E27FC236}">
                <a16:creationId xmlns:a16="http://schemas.microsoft.com/office/drawing/2014/main" id="{44B745F2-9E0D-4519-9155-3D20EC37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425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python tools/show_t1_case.py q017 --brief</a:t>
            </a:r>
          </a:p>
        </p:txBody>
      </p:sp>
      <p:sp>
        <p:nvSpPr>
          <p:cNvPr id="39" name="另有q019：只有5个候选却出现[8]。这类问题属于生成关联/引用缺陷，不能统一归咎于“检索没找">
            <a:extLst xmlns:a="http://schemas.openxmlformats.org/drawingml/2006/main">
              <a:ext uri="{FF2B5EF4-FFF2-40B4-BE49-F238E27FC236}">
                <a16:creationId xmlns:a16="http://schemas.microsoft.com/office/drawing/2014/main" id="{3905D6CE-73C3-4E69-B7F1-0EE5FACC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另有q019：只有5个候选却出现[8]。这类问题属于生成关联/引用缺陷，不能统一归咎于“检索没找到”。</a:t>
            </a:r>
          </a:p>
        </p:txBody>
      </p:sp>
    </p:spTree>
    <p:extLst>
      <p:ext uri="{BB962C8B-B14F-4D97-AF65-F5344CB8AC3E}">
        <p14:creationId xmlns:p14="http://schemas.microsoft.com/office/powerpoint/2010/main" val="331928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!!1">
            <a:extLst xmlns:a="http://schemas.openxmlformats.org/drawingml/2006/main">
              <a:ext uri="{FF2B5EF4-FFF2-40B4-BE49-F238E27FC236}">
                <a16:creationId xmlns:a16="http://schemas.microsoft.com/office/drawing/2014/main" id="{C2201B47-0AB8-4A9B-B4DB-95244A3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628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3">
            <a:extLst xmlns:a="http://schemas.openxmlformats.org/drawingml/2006/main">
              <a:ext uri="{FF2B5EF4-FFF2-40B4-BE49-F238E27FC236}">
                <a16:creationId xmlns:a16="http://schemas.microsoft.com/office/drawing/2014/main" id="{143A69DB-9294-4802-9A66-E9C98A35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317" y="186894"/>
            <a:ext cx="613619" cy="613620"/>
          </a:xfrm>
          <a:custGeom xmlns:a="http://schemas.openxmlformats.org/drawingml/2006/main">
            <a:rect l="l" t="t" r="r" b="b"/>
            <a:pathLst>
              <a:path w="3200223" h="3200168">
                <a:moveTo>
                  <a:pt x="0" y="0"/>
                </a:moveTo>
                <a:lnTo>
                  <a:pt x="3200223" y="0"/>
                </a:lnTo>
                <a:lnTo>
                  <a:pt x="3200223" y="3200168"/>
                </a:lnTo>
                <a:lnTo>
                  <a:pt x="0" y="3200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9784d727eb4f3f"/>
            <a:stretch>
              <a:fillRect l="0" t="0" r="0" b="0"/>
            </a:stretch>
          </a:blipFill>
        </p:spPr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0F3AF59F-17BB-4050-9D8A-56F18E92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98" y="239734"/>
            <a:ext cx="292078" cy="390695"/>
          </a:xfrm>
          <a:custGeom xmlns:a="http://schemas.openxmlformats.org/drawingml/2006/main">
            <a:rect l="l" t="t" r="r" b="b"/>
            <a:pathLst>
              <a:path w="1523613" h="2037826">
                <a:moveTo>
                  <a:pt x="0" y="0"/>
                </a:moveTo>
                <a:lnTo>
                  <a:pt x="1523613" y="0"/>
                </a:lnTo>
                <a:lnTo>
                  <a:pt x="1523613" y="2037826"/>
                </a:lnTo>
                <a:lnTo>
                  <a:pt x="0" y="20378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2c2f63d2a04d86"/>
            <a:stretch>
              <a:fillRect l="0" t="0" r="0" b="0"/>
            </a:stretch>
          </a:blipFill>
        </p:spPr>
      </p:sp>
      <p:sp>
        <p:nvSpPr>
          <p:cNvPr id="23" name="Freeform 8">
            <a:extLst xmlns:a="http://schemas.openxmlformats.org/drawingml/2006/main">
              <a:ext uri="{FF2B5EF4-FFF2-40B4-BE49-F238E27FC236}">
                <a16:creationId xmlns:a16="http://schemas.microsoft.com/office/drawing/2014/main" id="{E6709F40-F72E-4EFB-8A46-5C582CA0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884" y="671356"/>
            <a:ext cx="70915" cy="74996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2067" y="0"/>
                </a:lnTo>
                <a:lnTo>
                  <a:pt x="384429" y="0"/>
                </a:lnTo>
                <a:lnTo>
                  <a:pt x="241427" y="252095"/>
                </a:lnTo>
                <a:lnTo>
                  <a:pt x="241427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0CE9556A-DFCF-4B60-BECA-22DC08A2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122" y="671356"/>
            <a:ext cx="64519" cy="77033"/>
          </a:xfrm>
          <a:custGeom xmlns:a="http://schemas.openxmlformats.org/drawingml/2006/main">
            <a:rect l="l" t="t" r="r" b="b"/>
            <a:pathLst>
              <a:path w="349758" h="417830">
                <a:moveTo>
                  <a:pt x="349504" y="253492"/>
                </a:moveTo>
                <a:cubicBezTo>
                  <a:pt x="349758" y="311658"/>
                  <a:pt x="336169" y="353568"/>
                  <a:pt x="308737" y="379222"/>
                </a:cubicBezTo>
                <a:cubicBezTo>
                  <a:pt x="281305" y="404876"/>
                  <a:pt x="236728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297" y="0"/>
                </a:lnTo>
                <a:lnTo>
                  <a:pt x="90297" y="256286"/>
                </a:lnTo>
                <a:cubicBezTo>
                  <a:pt x="90297" y="285496"/>
                  <a:pt x="97282" y="307340"/>
                  <a:pt x="111379" y="321818"/>
                </a:cubicBezTo>
                <a:cubicBezTo>
                  <a:pt x="125476" y="336296"/>
                  <a:pt x="146558" y="343662"/>
                  <a:pt x="174752" y="343662"/>
                </a:cubicBezTo>
                <a:cubicBezTo>
                  <a:pt x="204978" y="343662"/>
                  <a:pt x="226568" y="336931"/>
                  <a:pt x="239522" y="323596"/>
                </a:cubicBezTo>
                <a:cubicBezTo>
                  <a:pt x="252476" y="310261"/>
                  <a:pt x="258953" y="287782"/>
                  <a:pt x="258953" y="256286"/>
                </a:cubicBezTo>
                <a:lnTo>
                  <a:pt x="258953" y="0"/>
                </a:lnTo>
                <a:lnTo>
                  <a:pt x="349250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F4D59F1-41EF-49F4-A185-BB53CBA7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892" y="671356"/>
            <a:ext cx="65105" cy="74996"/>
          </a:xfrm>
          <a:custGeom xmlns:a="http://schemas.openxmlformats.org/drawingml/2006/main">
            <a:rect l="l" t="t" r="r" b="b"/>
            <a:pathLst>
              <a:path w="352933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478" y="285496"/>
                </a:lnTo>
                <a:lnTo>
                  <a:pt x="268478" y="0"/>
                </a:lnTo>
                <a:lnTo>
                  <a:pt x="352933" y="0"/>
                </a:lnTo>
                <a:lnTo>
                  <a:pt x="352933" y="406781"/>
                </a:lnTo>
                <a:lnTo>
                  <a:pt x="262890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92BC0E3-9CBE-429F-9D64-1EFE807C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989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E4D0F97-9C2A-4DFA-9826-CD1D4F4B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651" y="671356"/>
            <a:ext cx="75764" cy="74996"/>
          </a:xfrm>
          <a:custGeom xmlns:a="http://schemas.openxmlformats.org/drawingml/2006/main">
            <a:rect l="l" t="t" r="r" b="b"/>
            <a:pathLst>
              <a:path w="410718" h="406781">
                <a:moveTo>
                  <a:pt x="146685" y="254000"/>
                </a:moveTo>
                <a:lnTo>
                  <a:pt x="261493" y="254000"/>
                </a:lnTo>
                <a:lnTo>
                  <a:pt x="204089" y="90424"/>
                </a:lnTo>
                <a:close/>
                <a:moveTo>
                  <a:pt x="152908" y="0"/>
                </a:moveTo>
                <a:lnTo>
                  <a:pt x="257683" y="0"/>
                </a:lnTo>
                <a:lnTo>
                  <a:pt x="410718" y="406781"/>
                </a:lnTo>
                <a:lnTo>
                  <a:pt x="314833" y="406781"/>
                </a:lnTo>
                <a:lnTo>
                  <a:pt x="285623" y="324104"/>
                </a:lnTo>
                <a:lnTo>
                  <a:pt x="121666" y="324104"/>
                </a:lnTo>
                <a:lnTo>
                  <a:pt x="93345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211CBF5-9597-4814-BC4A-268E6A3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60" y="671356"/>
            <a:ext cx="65081" cy="74996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3B8FCE4-0E45-42A6-89BA-E41C51C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15" y="294278"/>
            <a:ext cx="235586" cy="333351"/>
          </a:xfrm>
          <a:custGeom xmlns:a="http://schemas.openxmlformats.org/drawingml/2006/main">
            <a:rect l="l" t="t" r="r" b="b"/>
            <a:pathLst>
              <a:path w="1228572" h="1738834">
                <a:moveTo>
                  <a:pt x="0" y="0"/>
                </a:moveTo>
                <a:lnTo>
                  <a:pt x="1228572" y="0"/>
                </a:lnTo>
                <a:lnTo>
                  <a:pt x="1228572" y="1738834"/>
                </a:lnTo>
                <a:lnTo>
                  <a:pt x="0" y="17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4ae934beb94036"/>
            <a:stretch>
              <a:fillRect l="0" t="0" r="0" b="0"/>
            </a:stretch>
          </a:blipFill>
        </p:spPr>
      </p:sp>
      <p:sp>
        <p:nvSpPr>
          <p:cNvPr id="1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C360B9F-4ED4-4187-BFB8-741FACF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403" y="315340"/>
            <a:ext cx="240943" cy="281120"/>
          </a:xfrm>
          <a:custGeom xmlns:a="http://schemas.openxmlformats.org/drawingml/2006/main">
            <a:rect l="l" t="t" r="r" b="b"/>
            <a:pathLst>
              <a:path w="1256605" h="1466227">
                <a:moveTo>
                  <a:pt x="0" y="0"/>
                </a:moveTo>
                <a:lnTo>
                  <a:pt x="1256605" y="0"/>
                </a:lnTo>
                <a:lnTo>
                  <a:pt x="1256605" y="1466227"/>
                </a:lnTo>
                <a:lnTo>
                  <a:pt x="0" y="14662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850baa343149cb"/>
            <a:stretch>
              <a:fillRect l="0" t="0" r="0" b="0"/>
            </a:stretch>
          </a:blipFill>
        </p:spPr>
      </p:sp>
      <p:sp>
        <p:nvSpPr>
          <p:cNvPr id="1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BC5250D-3E13-475F-9D6C-47DEC44A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920" y="239734"/>
            <a:ext cx="234125" cy="390939"/>
          </a:xfrm>
          <a:custGeom xmlns:a="http://schemas.openxmlformats.org/drawingml/2006/main">
            <a:rect l="l" t="t" r="r" b="b"/>
            <a:pathLst>
              <a:path w="1220892" h="2038834">
                <a:moveTo>
                  <a:pt x="0" y="0"/>
                </a:moveTo>
                <a:lnTo>
                  <a:pt x="1220892" y="0"/>
                </a:lnTo>
                <a:lnTo>
                  <a:pt x="1220892" y="2038834"/>
                </a:lnTo>
                <a:lnTo>
                  <a:pt x="0" y="203883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4c7d4296574050"/>
            <a:stretch>
              <a:fillRect l="0" t="0" r="0" b="0"/>
            </a:stretch>
          </a:blipFill>
        </p:spPr>
      </p:sp>
      <p:sp>
        <p:nvSpPr>
          <p:cNvPr id="1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E4A1A01-9517-48C5-9C19-BF7550B3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76" y="671328"/>
            <a:ext cx="64501" cy="77056"/>
          </a:xfrm>
          <a:custGeom xmlns:a="http://schemas.openxmlformats.org/drawingml/2006/main">
            <a:rect l="l" t="t" r="r" b="b"/>
            <a:pathLst>
              <a:path w="349631" h="417830">
                <a:moveTo>
                  <a:pt x="349377" y="253492"/>
                </a:moveTo>
                <a:cubicBezTo>
                  <a:pt x="349631" y="311658"/>
                  <a:pt x="336042" y="353568"/>
                  <a:pt x="308610" y="379222"/>
                </a:cubicBezTo>
                <a:cubicBezTo>
                  <a:pt x="281178" y="404876"/>
                  <a:pt x="236601" y="417830"/>
                  <a:pt x="174879" y="417830"/>
                </a:cubicBezTo>
                <a:cubicBezTo>
                  <a:pt x="115570" y="417830"/>
                  <a:pt x="71755" y="404368"/>
                  <a:pt x="43180" y="377571"/>
                </a:cubicBezTo>
                <a:cubicBezTo>
                  <a:pt x="14605" y="350774"/>
                  <a:pt x="254" y="309372"/>
                  <a:pt x="0" y="253492"/>
                </a:cubicBezTo>
                <a:lnTo>
                  <a:pt x="0" y="0"/>
                </a:lnTo>
                <a:lnTo>
                  <a:pt x="90424" y="0"/>
                </a:lnTo>
                <a:lnTo>
                  <a:pt x="90424" y="256286"/>
                </a:lnTo>
                <a:cubicBezTo>
                  <a:pt x="90424" y="285496"/>
                  <a:pt x="97409" y="307340"/>
                  <a:pt x="111506" y="321818"/>
                </a:cubicBezTo>
                <a:cubicBezTo>
                  <a:pt x="125603" y="336296"/>
                  <a:pt x="146685" y="343662"/>
                  <a:pt x="174879" y="343662"/>
                </a:cubicBezTo>
                <a:cubicBezTo>
                  <a:pt x="205105" y="343662"/>
                  <a:pt x="226695" y="336931"/>
                  <a:pt x="239649" y="323596"/>
                </a:cubicBezTo>
                <a:cubicBezTo>
                  <a:pt x="252603" y="310261"/>
                  <a:pt x="259080" y="287782"/>
                  <a:pt x="259080" y="256286"/>
                </a:cubicBezTo>
                <a:lnTo>
                  <a:pt x="259080" y="0"/>
                </a:lnTo>
                <a:lnTo>
                  <a:pt x="349377" y="0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AF8945C-ECD8-4F5C-9BAE-C97EADEA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952" y="671328"/>
            <a:ext cx="65086" cy="75019"/>
          </a:xfrm>
          <a:custGeom xmlns:a="http://schemas.openxmlformats.org/drawingml/2006/main">
            <a:rect l="l" t="t" r="r" b="b"/>
            <a:pathLst>
              <a:path w="352806" h="406781">
                <a:moveTo>
                  <a:pt x="84455" y="406781"/>
                </a:moveTo>
                <a:lnTo>
                  <a:pt x="0" y="406781"/>
                </a:lnTo>
                <a:lnTo>
                  <a:pt x="0" y="0"/>
                </a:lnTo>
                <a:lnTo>
                  <a:pt x="94742" y="0"/>
                </a:lnTo>
                <a:lnTo>
                  <a:pt x="268351" y="285496"/>
                </a:lnTo>
                <a:lnTo>
                  <a:pt x="268351" y="0"/>
                </a:lnTo>
                <a:lnTo>
                  <a:pt x="352806" y="0"/>
                </a:lnTo>
                <a:lnTo>
                  <a:pt x="352806" y="406781"/>
                </a:lnTo>
                <a:lnTo>
                  <a:pt x="262763" y="406781"/>
                </a:lnTo>
                <a:lnTo>
                  <a:pt x="84455" y="11341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3216AB8-5ACB-4CF8-B15A-A5CFD67D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494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6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DE9DB25-58B8-4670-BB5A-F3D331B3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171" y="671328"/>
            <a:ext cx="69936" cy="75019"/>
          </a:xfrm>
          <a:custGeom xmlns:a="http://schemas.openxmlformats.org/drawingml/2006/main">
            <a:rect l="l" t="t" r="r" b="b"/>
            <a:pathLst>
              <a:path w="379095" h="406781">
                <a:moveTo>
                  <a:pt x="0" y="0"/>
                </a:moveTo>
                <a:lnTo>
                  <a:pt x="96012" y="0"/>
                </a:lnTo>
                <a:lnTo>
                  <a:pt x="191008" y="310769"/>
                </a:lnTo>
                <a:lnTo>
                  <a:pt x="285877" y="0"/>
                </a:lnTo>
                <a:lnTo>
                  <a:pt x="379095" y="0"/>
                </a:lnTo>
                <a:lnTo>
                  <a:pt x="232537" y="406781"/>
                </a:lnTo>
                <a:lnTo>
                  <a:pt x="146685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7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DFAB3E0-8DE1-405E-9F08-95E46DA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486" y="671328"/>
            <a:ext cx="60611" cy="75019"/>
          </a:xfrm>
          <a:custGeom xmlns:a="http://schemas.openxmlformats.org/drawingml/2006/main">
            <a:rect l="l" t="t" r="r" b="b"/>
            <a:pathLst>
              <a:path w="328549" h="406781">
                <a:moveTo>
                  <a:pt x="0" y="406781"/>
                </a:moveTo>
                <a:lnTo>
                  <a:pt x="0" y="0"/>
                </a:lnTo>
                <a:lnTo>
                  <a:pt x="318516" y="0"/>
                </a:lnTo>
                <a:lnTo>
                  <a:pt x="318516" y="72263"/>
                </a:lnTo>
                <a:lnTo>
                  <a:pt x="90424" y="72263"/>
                </a:lnTo>
                <a:lnTo>
                  <a:pt x="90424" y="158623"/>
                </a:lnTo>
                <a:lnTo>
                  <a:pt x="302006" y="158623"/>
                </a:lnTo>
                <a:lnTo>
                  <a:pt x="302006" y="228600"/>
                </a:lnTo>
                <a:lnTo>
                  <a:pt x="90424" y="228600"/>
                </a:lnTo>
                <a:lnTo>
                  <a:pt x="90424" y="334518"/>
                </a:lnTo>
                <a:lnTo>
                  <a:pt x="328549" y="334518"/>
                </a:lnTo>
                <a:lnTo>
                  <a:pt x="328549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8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2EF67B4-85EB-4E87-B602-370370DE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452" y="671328"/>
            <a:ext cx="66867" cy="75019"/>
          </a:xfrm>
          <a:custGeom xmlns:a="http://schemas.openxmlformats.org/drawingml/2006/main">
            <a:rect l="l" t="t" r="r" b="b"/>
            <a:pathLst>
              <a:path w="362458" h="406781">
                <a:moveTo>
                  <a:pt x="90297" y="177673"/>
                </a:moveTo>
                <a:lnTo>
                  <a:pt x="195072" y="177673"/>
                </a:lnTo>
                <a:cubicBezTo>
                  <a:pt x="218440" y="177673"/>
                  <a:pt x="235966" y="173228"/>
                  <a:pt x="247650" y="164211"/>
                </a:cubicBezTo>
                <a:cubicBezTo>
                  <a:pt x="259334" y="155194"/>
                  <a:pt x="265176" y="141732"/>
                  <a:pt x="265176" y="123698"/>
                </a:cubicBezTo>
                <a:cubicBezTo>
                  <a:pt x="265176" y="105791"/>
                  <a:pt x="259588" y="92329"/>
                  <a:pt x="248539" y="83439"/>
                </a:cubicBezTo>
                <a:cubicBezTo>
                  <a:pt x="237490" y="74549"/>
                  <a:pt x="220853" y="69977"/>
                  <a:pt x="198628" y="69977"/>
                </a:cubicBezTo>
                <a:lnTo>
                  <a:pt x="90297" y="69977"/>
                </a:lnTo>
                <a:close/>
                <a:moveTo>
                  <a:pt x="0" y="0"/>
                </a:moveTo>
                <a:lnTo>
                  <a:pt x="218059" y="0"/>
                </a:lnTo>
                <a:cubicBezTo>
                  <a:pt x="259207" y="0"/>
                  <a:pt x="292481" y="10414"/>
                  <a:pt x="317627" y="31115"/>
                </a:cubicBezTo>
                <a:cubicBezTo>
                  <a:pt x="342773" y="51816"/>
                  <a:pt x="355473" y="79248"/>
                  <a:pt x="355473" y="113157"/>
                </a:cubicBezTo>
                <a:cubicBezTo>
                  <a:pt x="355473" y="152273"/>
                  <a:pt x="341376" y="180848"/>
                  <a:pt x="313436" y="198882"/>
                </a:cubicBezTo>
                <a:lnTo>
                  <a:pt x="288163" y="211074"/>
                </a:lnTo>
                <a:lnTo>
                  <a:pt x="298323" y="215392"/>
                </a:lnTo>
                <a:cubicBezTo>
                  <a:pt x="327406" y="231648"/>
                  <a:pt x="340233" y="254889"/>
                  <a:pt x="341249" y="287528"/>
                </a:cubicBezTo>
                <a:lnTo>
                  <a:pt x="343281" y="354203"/>
                </a:lnTo>
                <a:cubicBezTo>
                  <a:pt x="343662" y="367538"/>
                  <a:pt x="345186" y="376936"/>
                  <a:pt x="347726" y="382397"/>
                </a:cubicBezTo>
                <a:lnTo>
                  <a:pt x="355219" y="392303"/>
                </a:lnTo>
                <a:lnTo>
                  <a:pt x="362458" y="406400"/>
                </a:lnTo>
                <a:lnTo>
                  <a:pt x="262636" y="406400"/>
                </a:lnTo>
                <a:cubicBezTo>
                  <a:pt x="260223" y="402209"/>
                  <a:pt x="258191" y="393065"/>
                  <a:pt x="256413" y="379222"/>
                </a:cubicBezTo>
                <a:lnTo>
                  <a:pt x="253492" y="334264"/>
                </a:lnTo>
                <a:lnTo>
                  <a:pt x="252857" y="296672"/>
                </a:lnTo>
                <a:cubicBezTo>
                  <a:pt x="252476" y="278384"/>
                  <a:pt x="246761" y="265430"/>
                  <a:pt x="235712" y="257683"/>
                </a:cubicBezTo>
                <a:cubicBezTo>
                  <a:pt x="224663" y="249936"/>
                  <a:pt x="206248" y="246126"/>
                  <a:pt x="180594" y="246126"/>
                </a:cubicBezTo>
                <a:lnTo>
                  <a:pt x="90551" y="246126"/>
                </a:lnTo>
                <a:lnTo>
                  <a:pt x="90551" y="406781"/>
                </a:lnTo>
                <a:lnTo>
                  <a:pt x="254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1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6C538D0-3139-458C-B776-ED080BA5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9456" y="669290"/>
            <a:ext cx="65578" cy="79094"/>
          </a:xfrm>
          <a:custGeom xmlns:a="http://schemas.openxmlformats.org/drawingml/2006/main">
            <a:rect l="l" t="t" r="r" b="b"/>
            <a:pathLst>
              <a:path w="355473" h="428879">
                <a:moveTo>
                  <a:pt x="256667" y="133096"/>
                </a:moveTo>
                <a:cubicBezTo>
                  <a:pt x="255143" y="113665"/>
                  <a:pt x="245999" y="98425"/>
                  <a:pt x="229616" y="86995"/>
                </a:cubicBezTo>
                <a:cubicBezTo>
                  <a:pt x="213233" y="75565"/>
                  <a:pt x="191643" y="69977"/>
                  <a:pt x="165227" y="69977"/>
                </a:cubicBezTo>
                <a:cubicBezTo>
                  <a:pt x="142240" y="69977"/>
                  <a:pt x="124333" y="74676"/>
                  <a:pt x="111379" y="84201"/>
                </a:cubicBezTo>
                <a:cubicBezTo>
                  <a:pt x="98425" y="93726"/>
                  <a:pt x="91948" y="106934"/>
                  <a:pt x="91948" y="123952"/>
                </a:cubicBezTo>
                <a:cubicBezTo>
                  <a:pt x="91948" y="136144"/>
                  <a:pt x="98679" y="145542"/>
                  <a:pt x="112268" y="152146"/>
                </a:cubicBezTo>
                <a:cubicBezTo>
                  <a:pt x="125603" y="158750"/>
                  <a:pt x="153924" y="166624"/>
                  <a:pt x="197358" y="175641"/>
                </a:cubicBezTo>
                <a:cubicBezTo>
                  <a:pt x="260350" y="188976"/>
                  <a:pt x="302387" y="204216"/>
                  <a:pt x="323596" y="221615"/>
                </a:cubicBezTo>
                <a:cubicBezTo>
                  <a:pt x="344805" y="238760"/>
                  <a:pt x="355473" y="266319"/>
                  <a:pt x="355473" y="304292"/>
                </a:cubicBezTo>
                <a:cubicBezTo>
                  <a:pt x="355473" y="342519"/>
                  <a:pt x="339471" y="372745"/>
                  <a:pt x="307467" y="395224"/>
                </a:cubicBezTo>
                <a:cubicBezTo>
                  <a:pt x="275463" y="417703"/>
                  <a:pt x="232283" y="428879"/>
                  <a:pt x="177673" y="428879"/>
                </a:cubicBezTo>
                <a:cubicBezTo>
                  <a:pt x="122936" y="428879"/>
                  <a:pt x="80137" y="416941"/>
                  <a:pt x="49403" y="393192"/>
                </a:cubicBezTo>
                <a:cubicBezTo>
                  <a:pt x="18669" y="369443"/>
                  <a:pt x="2159" y="335534"/>
                  <a:pt x="0" y="291719"/>
                </a:cubicBezTo>
                <a:lnTo>
                  <a:pt x="87122" y="291719"/>
                </a:lnTo>
                <a:cubicBezTo>
                  <a:pt x="88138" y="313309"/>
                  <a:pt x="96393" y="329946"/>
                  <a:pt x="112141" y="341503"/>
                </a:cubicBezTo>
                <a:cubicBezTo>
                  <a:pt x="127889" y="353060"/>
                  <a:pt x="149733" y="358902"/>
                  <a:pt x="177800" y="358902"/>
                </a:cubicBezTo>
                <a:cubicBezTo>
                  <a:pt x="206629" y="358902"/>
                  <a:pt x="229108" y="354584"/>
                  <a:pt x="245364" y="345821"/>
                </a:cubicBezTo>
                <a:cubicBezTo>
                  <a:pt x="261620" y="337058"/>
                  <a:pt x="269621" y="324866"/>
                  <a:pt x="269621" y="309372"/>
                </a:cubicBezTo>
                <a:cubicBezTo>
                  <a:pt x="269621" y="294005"/>
                  <a:pt x="263779" y="282829"/>
                  <a:pt x="252095" y="275590"/>
                </a:cubicBezTo>
                <a:cubicBezTo>
                  <a:pt x="240665" y="268351"/>
                  <a:pt x="216408" y="260985"/>
                  <a:pt x="179197" y="253111"/>
                </a:cubicBezTo>
                <a:cubicBezTo>
                  <a:pt x="110617" y="238760"/>
                  <a:pt x="64643" y="223139"/>
                  <a:pt x="41529" y="206375"/>
                </a:cubicBezTo>
                <a:cubicBezTo>
                  <a:pt x="18542" y="189738"/>
                  <a:pt x="7112" y="163830"/>
                  <a:pt x="7112" y="128651"/>
                </a:cubicBezTo>
                <a:cubicBezTo>
                  <a:pt x="7112" y="89154"/>
                  <a:pt x="22352" y="57912"/>
                  <a:pt x="52705" y="34671"/>
                </a:cubicBezTo>
                <a:cubicBezTo>
                  <a:pt x="83058" y="11430"/>
                  <a:pt x="123952" y="0"/>
                  <a:pt x="175768" y="0"/>
                </a:cubicBezTo>
                <a:cubicBezTo>
                  <a:pt x="224282" y="0"/>
                  <a:pt x="263652" y="11938"/>
                  <a:pt x="294005" y="35941"/>
                </a:cubicBezTo>
                <a:cubicBezTo>
                  <a:pt x="324358" y="59944"/>
                  <a:pt x="341249" y="92329"/>
                  <a:pt x="344678" y="133096"/>
                </a:cubicBez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60F4FCD-9394-4BCB-A1EF-571E228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139" y="671328"/>
            <a:ext cx="16658" cy="75019"/>
          </a:xfrm>
          <a:custGeom xmlns:a="http://schemas.openxmlformats.org/drawingml/2006/main">
            <a:rect l="l" t="t" r="r" b="b"/>
            <a:pathLst>
              <a:path w="90297" h="406781">
                <a:moveTo>
                  <a:pt x="0" y="0"/>
                </a:moveTo>
                <a:lnTo>
                  <a:pt x="90297" y="0"/>
                </a:lnTo>
                <a:lnTo>
                  <a:pt x="90297" y="406781"/>
                </a:lnTo>
                <a:lnTo>
                  <a:pt x="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E2EC13B-06A8-44BC-BC18-20DB57CB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278" y="671328"/>
            <a:ext cx="64899" cy="75019"/>
          </a:xfrm>
          <a:custGeom xmlns:a="http://schemas.openxmlformats.org/drawingml/2006/main">
            <a:rect l="l" t="t" r="r" b="b"/>
            <a:pathLst>
              <a:path w="351790" h="406781">
                <a:moveTo>
                  <a:pt x="130683" y="72263"/>
                </a:moveTo>
                <a:lnTo>
                  <a:pt x="0" y="72263"/>
                </a:lnTo>
                <a:lnTo>
                  <a:pt x="0" y="0"/>
                </a:lnTo>
                <a:lnTo>
                  <a:pt x="351790" y="0"/>
                </a:lnTo>
                <a:lnTo>
                  <a:pt x="351790" y="72263"/>
                </a:lnTo>
                <a:lnTo>
                  <a:pt x="221107" y="72263"/>
                </a:lnTo>
                <a:lnTo>
                  <a:pt x="221107" y="406781"/>
                </a:lnTo>
                <a:lnTo>
                  <a:pt x="130810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sp>
        <p:nvSpPr>
          <p:cNvPr id="22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81EB5CC-ED2D-417B-B8D6-2C1CC11B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105" y="671328"/>
            <a:ext cx="70920" cy="75019"/>
          </a:xfrm>
          <a:custGeom xmlns:a="http://schemas.openxmlformats.org/drawingml/2006/main">
            <a:rect l="l" t="t" r="r" b="b"/>
            <a:pathLst>
              <a:path w="384429" h="406781">
                <a:moveTo>
                  <a:pt x="151003" y="253746"/>
                </a:moveTo>
                <a:lnTo>
                  <a:pt x="0" y="0"/>
                </a:lnTo>
                <a:lnTo>
                  <a:pt x="107569" y="0"/>
                </a:lnTo>
                <a:lnTo>
                  <a:pt x="197485" y="176530"/>
                </a:lnTo>
                <a:lnTo>
                  <a:pt x="281940" y="0"/>
                </a:lnTo>
                <a:lnTo>
                  <a:pt x="384429" y="0"/>
                </a:lnTo>
                <a:lnTo>
                  <a:pt x="241300" y="252095"/>
                </a:lnTo>
                <a:lnTo>
                  <a:pt x="241300" y="406781"/>
                </a:lnTo>
                <a:lnTo>
                  <a:pt x="151003" y="406781"/>
                </a:lnTo>
                <a:close/>
              </a:path>
            </a:pathLst>
          </a:custGeom>
          <a:solidFill xmlns:a="http://schemas.openxmlformats.org/drawingml/2006/main">
            <a:srgbClr val="1D2B5B"/>
          </a:solidFill>
        </p:spPr>
      </p:sp>
      <p:pic>
        <p:nvPicPr>
          <p:cNvPr id="42" name="图片 41">
            <a:extLst xmlns:a="http://schemas.openxmlformats.org/drawingml/2006/main">
              <a:ext uri="{FF2B5EF4-FFF2-40B4-BE49-F238E27FC236}">
                <a16:creationId xmlns:a16="http://schemas.microsoft.com/office/drawing/2014/main" id="{49A5DD46-ABFF-460D-874C-A8C85BD47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28f5a272247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9359616" flipH="1" flipV="1">
            <a:off x="861182" y="-521649"/>
            <a:ext cx="2488537" cy="3272596"/>
          </a:xfrm>
          <a:prstGeom xmlns:a="http://schemas.openxmlformats.org/drawingml/2006/main" prst="rect">
            <a:avLst/>
          </a:prstGeom>
        </p:spPr>
      </p:pic>
      <p:sp>
        <p:nvSpPr>
          <p:cNvPr id="43" name="数据支持的结论与下一步">
            <a:extLst xmlns:a="http://schemas.openxmlformats.org/drawingml/2006/main">
              <a:ext uri="{FF2B5EF4-FFF2-40B4-BE49-F238E27FC236}">
                <a16:creationId xmlns:a16="http://schemas.microsoft.com/office/drawing/2014/main" id="{40A5F3F6-1D9C-4FDE-8FDF-AE93A25E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573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30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数据支持的结论与下一步</a:t>
            </a:r>
          </a:p>
        </p:txBody>
      </p:sp>
      <p:sp>
        <p:nvSpPr>
          <p:cNvPr id="44" name="事实与规则任务获得更多依据">
            <a:extLst xmlns:a="http://schemas.openxmlformats.org/drawingml/2006/main">
              <a:ext uri="{FF2B5EF4-FFF2-40B4-BE49-F238E27FC236}">
                <a16:creationId xmlns:a16="http://schemas.microsoft.com/office/drawing/2014/main" id="{12F24BD4-94BD-441E-B6C0-C8D86888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574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2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事实与规则任务获得更多依据</a:t>
            </a:r>
          </a:p>
        </p:txBody>
      </p:sp>
      <p:sp>
        <p:nvSpPr>
          <p:cNvPr id="45" name="L1：60%对20%　L2：90%对20%&#10;L3：90%对10%　L4：52%对52%">
            <a:extLst xmlns:a="http://schemas.openxmlformats.org/drawingml/2006/main">
              <a:ext uri="{FF2B5EF4-FFF2-40B4-BE49-F238E27FC236}">
                <a16:creationId xmlns:a16="http://schemas.microsoft.com/office/drawing/2014/main" id="{39BF5B6D-8464-4B75-BFD6-62A1A847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L1：60%对20%　L2：90%对20%</a:t>
            </a:r>
          </a:p>
          <a:p xmlns:a="http://schemas.openxmlformats.org/drawingml/2006/main">
            <a:pPr algn="l">
              <a:defRPr sz="217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17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L3：90%对10%　L4：52%对52%</a:t>
            </a:r>
          </a:p>
        </p:txBody>
      </p:sp>
      <p:sp>
        <p:nvSpPr>
          <p:cNvPr id="46" name="仍有两类边界">
            <a:extLst xmlns:a="http://schemas.openxmlformats.org/drawingml/2006/main">
              <a:ext uri="{FF2B5EF4-FFF2-40B4-BE49-F238E27FC236}">
                <a16:creationId xmlns:a16="http://schemas.microsoft.com/office/drawing/2014/main" id="{C028904F-51FF-4D81-A2AA-71BC415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24300"/>
            <a:ext cx="7620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25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仍有两类边界</a:t>
            </a:r>
          </a:p>
        </p:txBody>
      </p:sp>
      <p:sp>
        <p:nvSpPr>
          <p:cNvPr id="47" name="18题命中任一gold，但仅13题证据齐全&#10;证据齐全仍有表格误读、扩写和越界">
            <a:extLst xmlns:a="http://schemas.openxmlformats.org/drawingml/2006/main">
              <a:ext uri="{FF2B5EF4-FFF2-40B4-BE49-F238E27FC236}">
                <a16:creationId xmlns:a16="http://schemas.microsoft.com/office/drawing/2014/main" id="{E330766B-74CB-4042-89FC-793640A6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18题命中任一gold，但仅13题证据齐全</a:t>
            </a:r>
          </a:p>
          <a:p xmlns:a="http://schemas.openxmlformats.org/drawingml/2006/main">
            <a:pPr algn="l">
              <a:defRPr sz="2025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2025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证据齐全仍有表格误读、扩写和越界</a:t>
            </a:r>
          </a:p>
        </p:txBody>
      </p:sp>
      <p:sp>
        <p:nvSpPr>
          <p:cNvPr id="48" name="下一步验证（未实施）">
            <a:extLst xmlns:a="http://schemas.openxmlformats.org/drawingml/2006/main">
              <a:ext uri="{FF2B5EF4-FFF2-40B4-BE49-F238E27FC236}">
                <a16:creationId xmlns:a16="http://schemas.microsoft.com/office/drawing/2014/main" id="{3CEF36DD-B3A9-43A4-976A-2BA1D44F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673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defPPr>
            <a:lvl1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1pPr>
            <a:lvl2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2pPr>
            <a:lvl3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3pPr>
            <a:lvl4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4pPr>
            <a:lvl5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5pPr>
            <a:lvl6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6pPr>
            <a:lvl7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7pPr>
            <a:lvl8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8pPr>
            <a:lvl9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D2B5B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1D2B5B"/>
                </a:solidFill>
                <a:latin typeface="等线"/>
                <a:ea typeface="等线"/>
                <a:cs typeface="等线"/>
              </a:rPr>
              <a:t>下一步验证（未实施）</a:t>
            </a:r>
          </a:p>
        </p:txBody>
      </p:sp>
      <p:sp>
        <p:nvSpPr>
          <p:cNvPr id="49" name="关键条款定位、表格分块、重排与生成事实核对">
            <a:extLst xmlns:a="http://schemas.openxmlformats.org/drawingml/2006/main">
              <a:ext uri="{FF2B5EF4-FFF2-40B4-BE49-F238E27FC236}">
                <a16:creationId xmlns:a16="http://schemas.microsoft.com/office/drawing/2014/main" id="{1188A8D5-6C80-44B9-8D06-6E90450A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959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defPPr>
            <a:lvl1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1pPr>
            <a:lvl2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2pPr>
            <a:lvl3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3pPr>
            <a:lvl4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4pPr>
            <a:lvl5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5pPr>
            <a:lvl6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6pPr>
            <a:lvl7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7pPr>
            <a:lvl8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8pPr>
            <a:lvl9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22A36"/>
                </a:solidFill>
                <a:latin typeface="等线"/>
                <a:ea typeface="等线"/>
                <a:cs typeface="等线"/>
              </a:defRPr>
            </a:pPr>
            <a:r>
              <a:rPr sz="1800" b="0">
                <a:solidFill>
                  <a:srgbClr val="222A36"/>
                </a:solidFill>
                <a:latin typeface="等线"/>
                <a:ea typeface="等线"/>
                <a:cs typeface="等线"/>
              </a:rPr>
              <a:t>关键条款定位、表格分块、重排与生成事实核对</a:t>
            </a:r>
          </a:p>
        </p:txBody>
      </p:sp>
      <p:sp>
        <p:nvSpPr>
          <p:cNvPr id="50" name="14 / 14">
            <a:extLst xmlns:a="http://schemas.openxmlformats.org/drawingml/2006/main">
              <a:ext uri="{FF2B5EF4-FFF2-40B4-BE49-F238E27FC236}">
                <a16:creationId xmlns:a16="http://schemas.microsoft.com/office/drawing/2014/main" id="{4AB8BF43-E767-45D8-95FE-512999B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674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defPPr>
            <a:lvl1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1pPr>
            <a:lvl2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2pPr>
            <a:lvl3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3pPr>
            <a:lvl4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4pPr>
            <a:lvl5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5pPr>
            <a:lvl6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6pPr>
            <a:lvl7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7pPr>
            <a:lvl8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8pPr>
            <a:lvl9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26B79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26B79"/>
                </a:solidFill>
                <a:latin typeface="等线"/>
                <a:ea typeface="等线"/>
                <a:cs typeface="等线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61255937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2026-10-26T12:13:13.9470000Z</dcterms:created>
  <dcterms:modified xsi:type="dcterms:W3CDTF">2026-10-26T12:13:13.9470000Z</dcterms:modified>
</coreProperties>
</file>