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基础RAG</c:f>
              <c:strCache>
                <c:ptCount val="1"/>
                <c:pt idx="0">
                  <c:v>基础RAG</c:v>
                </c:pt>
              </c:strCache>
            </c:strRef>
          </c:tx>
          <c:spPr>
            <a:solidFill>
              <a:srgbClr val="1D2B5B"/>
            </a:solidFill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0.6</c:v>
                </c:pt>
                <c:pt idx="1">
                  <c:v>0.9</c:v>
                </c:pt>
                <c:pt idx="2">
                  <c:v>0.9</c:v>
                </c:pt>
                <c:pt idx="3">
                  <c:v>0.52</c:v>
                </c:pt>
              </c:numCache>
            </c:numRef>
          </c:val>
        </c:ser>
        <c:ser>
          <c:idx val="1"/>
          <c:order val="1"/>
          <c:tx>
            <c:strRef>
              <c:f>无检索LLM</c:f>
              <c:strCache>
                <c:ptCount val="1"/>
                <c:pt idx="0">
                  <c:v>无检索LLM</c:v>
                </c:pt>
              </c:strCache>
            </c:strRef>
          </c:tx>
          <c:spPr>
            <a:solidFill>
              <a:srgbClr val="A7AFBD"/>
            </a:solidFill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0.1</c:v>
                </c:pt>
                <c:pt idx="3">
                  <c:v>0.52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FE4ED"/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650" b="0" i="0" u="none" strike="noStrike" kern="1200" baseline="0">
              <a:solidFill>
                <a:schemeClr val="tx1"/>
              </a:solidFill>
              <a:latin typeface="等线"/>
              <a:ea typeface="等线"/>
              <a:cs typeface="等线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2e4380c-0d71-42b0-9643-13bd2462fd4b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【约10秒】我这次汇报学校领域知识库、四级评测集，以及基础RAG和同模型无检索的对照实验。重点是说明资料如何进入系统、怎样核对回答，以及检索在哪些问题上带来了帮助。</a:t>
            </a:r>
          </a:p>
          <a:p>
            <a:r>
              <a:t>模板素材沿用用户提供的云南大学专属主题模板。</a:t>
            </a:r>
          </a:p>
          <a:p/>
          <a:p>
            <a:r>
              <a:t>来源：</a:t>
            </a:r>
          </a:p>
          <a:p>
            <a:r>
              <a:t>D:/Desktop/学习资料/LLM-RAG/LLM-RAG/docs/资料与实现说明.md</a:t>
            </a:r>
          </a:p>
          <a:p>
            <a:r>
              <a:t>D:/Desktop/学习资料/LLM-RAG/LLM-RAG/data/eval/qa_set.jsonl</a:t>
            </a:r>
          </a:p>
          <a:p>
            <a:r>
              <a:t>D:/Desktop/学习资料/LLM-RAG/LLM-RAG/results/T1_基线与对照实验分析.md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35秒】我选择云南大学软件学院及人工智能学院相关资料，实际入库23篇，正文约9.24万字符，其中约6.19万汉字。资料覆盖培养与专业信息、公开课程、选课学业和推免。这里的8篇培养与专业介绍还包括简介和新闻，不能把它们都说成完整培养方案。公开资料是否进入过模型训练集，我们无法证明。</a:t>
            </a:r>
          </a:p>
          <a:p/>
          <a:p>
            <a:r>
              <a:t>来源：</a:t>
            </a:r>
          </a:p>
          <a:p>
            <a:r>
              <a:t>D:/Desktop/学习资料/LLM-RAG/LLM-RAG/metadata/sources.json</a:t>
            </a:r>
          </a:p>
          <a:p>
            <a:r>
              <a:t>D:/Desktop/学习资料/LLM-RAG/LLM-RAG/文档目录.md</a:t>
            </a:r>
          </a:p>
          <a:p>
            <a:r>
              <a:t>D:/Desktop/学习资料/LLM-RAG/LLM-RAG/docs/资料与实现说明.md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【约30秒】系统统一读取整理后的Markdown，同时保存原始HTML和PDF。8篇入库资料对应PDF，普通文本按页提取，扫描页使用Windows OCR，并保留页码。元数据记录来源、版本和哈希，便于定位答案依据。部分选课附件尚未补齐，OCR、跨页和表格的结构也是后续需要检查的质量因素。</a:t>
            </a:r>
          </a:p>
          <a:p/>
          <a:p>
            <a:r>
              <a:t>来源：</a:t>
            </a:r>
          </a:p>
          <a:p>
            <a:r>
              <a:t>D:/Desktop/学习资料/LLM-RAG/LLM-RAG/metadata/sources.json</a:t>
            </a:r>
          </a:p>
          <a:p>
            <a:r>
              <a:t>D:/Desktop/学习资料/LLM-RAG/LLM-RAG/data/originals/</a:t>
            </a:r>
          </a:p>
          <a:p>
            <a:r>
              <a:t>D:/Desktop/学习资料/LLM-RAG/LLM-RAG/src/kb.py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40秒】评测集共有20题，L1到L4各5题。四级分别考查明文事实、信息整合、规则应用和开放式规划。每题包含id、level、question、gold_answer、gold_chunk_ids和evidence_required。这里展示q002的答案摘要，真实证据块来自当前索引。55处摘录对照过分块、正文和归档原件。标注使用了助手辅助，不能自动表述为已经完成独立人工审核。题号以JSONL为准，L4按五个要点评分。</a:t>
            </a:r>
          </a:p>
          <a:p/>
          <a:p>
            <a:r>
              <a:t>来源：</a:t>
            </a:r>
          </a:p>
          <a:p>
            <a:r>
              <a:t>D:/Desktop/学习资料/LLM-RAG/LLM-RAG/data/eval/qa_set.jsonl</a:t>
            </a:r>
          </a:p>
          <a:p>
            <a:r>
              <a:t>D:/Desktop/学习资料/LLM-RAG/LLM-RAG/data/eval/qa_evidence.jsonl</a:t>
            </a:r>
          </a:p>
          <a:p>
            <a:r>
              <a:t>D:/Desktop/学习资料/LLM-RAG/LLM-RAG/data/eval/qa_manifest.json</a:t>
            </a:r>
          </a:p>
          <a:p>
            <a:r>
              <a:t>D:/Desktop/学习资料/LLM-RAG/LLM-RAG/index_langchain/documents.json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【约35秒】这条链路对应老师要求的七个环节。文档每块最多650字符、重叠120字符，共202块。向量化保留字符TF-IDF和64维LSA，通过LangChain Embeddings接口接入FAISS。检索前5个片段后拼Context，再用LCEL调用本地千问生成。这里没有神经Embedding、模型微调、混合检索或重排。政策年份核对主要依靠生成提示约束，没有额外硬过滤。</a:t>
            </a:r>
          </a:p>
          <a:p/>
          <a:p>
            <a:r>
              <a:t>来源：</a:t>
            </a:r>
          </a:p>
          <a:p>
            <a:r>
              <a:t>D:/Desktop/学习资料/LLM-RAG/LLM-RAG/src/kb.py</a:t>
            </a:r>
          </a:p>
          <a:p>
            <a:r>
              <a:t>D:/Desktop/学习资料/LLM-RAG/LLM-RAG/src/rag_chain.py</a:t>
            </a:r>
          </a:p>
          <a:p>
            <a:r>
              <a:t>D:/Desktop/学习资料/LLM-RAG/LLM-RAG/src/chat_ollama.py</a:t>
            </a:r>
          </a:p>
          <a:p>
            <a:r>
              <a:t>D:/Desktop/学习资料/LLM-RAG/LLM-RAG/index_langchain/index_info.json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25秒】我对同一份20题分别运行基础RAG和无检索千问，共40次调用。两组模型和参数一致，每次独立对话，不提供参考答案。无检索组没有Context和检索工具，同时移除了必须依据资料和引用的提示要求。因此仍存在提示适配差异，不能把本实验说成严格隔离单一变量的因果证明。实验日期为2026年10月25日。</a:t>
            </a:r>
          </a:p>
          <a:p/>
          <a:p>
            <a:r>
              <a:t>来源：</a:t>
            </a:r>
          </a:p>
          <a:p>
            <a:r>
              <a:t>D:/Desktop/学习资料/LLM-RAG/LLM-RAG/src/run_t1_experiment.py</a:t>
            </a:r>
          </a:p>
          <a:p>
            <a:r>
              <a:t>D:/Desktop/学习资料/LLM-RAG/LLM-RAG/results/t1_baseline.jsonl</a:t>
            </a:r>
          </a:p>
          <a:p>
            <a:r>
              <a:t>D:/Desktop/学习资料/LLM-RAG/LLM-RAG/results/t1_no_retrieval.jsonl</a:t>
            </a:r>
          </a:p>
          <a:p>
            <a:r>
              <a:t>D:/Desktop/学习资料/LLM-RAG/LLM-RAG/results/T1_基线与对照实验分析.md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40秒】按本次助手逐题核对的评分，RAG总体为73%，无检索为25.5%。L1到L3得分更高，但L4两组都为52%，没有改善。Recall@5的90%按至少命中一个gold块计算，并不等于90%的答案正确；全部gold都召回的只有13题。RAG与无检索平均端到端耗时分别60.66和30.07秒，包含生成与冷启动，不能当成纯检索延迟。样本仅20题，每题每组一次，评分也存在主观性。</a:t>
            </a:r>
          </a:p>
          <a:p/>
          <a:p>
            <a:r>
              <a:t>来源：</a:t>
            </a:r>
          </a:p>
          <a:p>
            <a:r>
              <a:t>D:/Desktop/学习资料/LLM-RAG/LLM-RAG/results/t1_summary.json</a:t>
            </a:r>
          </a:p>
          <a:p>
            <a:r>
              <a:t>D:/Desktop/学习资料/LLM-RAG/LLM-RAG/results/T1_基线与对照实验分析.md</a:t>
            </a:r>
          </a:p>
          <a:p>
            <a:r>
              <a:t>D:/Desktop/学习资料/LLM-RAG/LLM-RAG/results/t1_逐题答案对照.md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30秒】数据库先修课这题，RAG首位找到了明确写着数据结构的片段，并正确引用，无检索模型没有给出答案。另一题需要比较两类认定上限，RAG结合第四条和第八条，得出10与15学分、相差5学分。这里支撑核心比较的证据齐全，但不能把它等同于该题所有gold块都已召回。两个案例分别体现了事实定位和信息整合的作用。</a:t>
            </a:r>
          </a:p>
          <a:p/>
          <a:p>
            <a:r>
              <a:t>来源：</a:t>
            </a:r>
          </a:p>
          <a:p>
            <a:r>
              <a:t>D:/Desktop/学习资料/LLM-RAG/LLM-RAG/results/t1_baseline.jsonl</a:t>
            </a:r>
          </a:p>
          <a:p>
            <a:r>
              <a:t>D:/Desktop/学习资料/LLM-RAG/LLM-RAG/results/t1_no_retrieval.jsonl</a:t>
            </a:r>
          </a:p>
          <a:p>
            <a:r>
              <a:t>D:/Desktop/学习资料/LLM-RAG/LLM-RAG/data/eval/qa_evidence.jsonl</a:t>
            </a:r>
          </a:p>
          <a:p>
            <a:r>
              <a:t>https://higher.smartedu.cn/course/69811cc295df98bb27c3c2a2</a:t>
            </a:r>
          </a:p>
          <a:p>
            <a:r>
              <a:t>https://www.jwc.ynu.edu.cn/info/1003/4293.htm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35秒】总学分和缓考题都漏召回了关键条款，拿到的是相关文件的其他页，所以回答资料不足。缓考题无检索模型反而答对，说明检索也可能限制答案。微专业题则不同：上下文已有表格，模型仍把智慧城市与数字治理的电话配给智慧医疗，还混用了另一个项目的介绍。它不是完整成功答案，而是证据到位后的生成缺陷。q019还有引用越界，正常交互包装层会对此报错。</a:t>
            </a:r>
          </a:p>
          <a:p/>
          <a:p>
            <a:r>
              <a:t>来源：</a:t>
            </a:r>
          </a:p>
          <a:p>
            <a:r>
              <a:t>D:/Desktop/学习资料/LLM-RAG/LLM-RAG/results/t1_baseline.jsonl</a:t>
            </a:r>
          </a:p>
          <a:p>
            <a:r>
              <a:t>D:/Desktop/学习资料/LLM-RAG/LLM-RAG/results/t1_no_retrieval.jsonl</a:t>
            </a:r>
          </a:p>
          <a:p>
            <a:r>
              <a:t>D:/Desktop/学习资料/LLM-RAG/LLM-RAG/results/T1_基线与对照实验分析.md</a:t>
            </a:r>
          </a:p>
          <a:p>
            <a:r>
              <a:t>D:/Desktop/学习资料/LLM-RAG/LLM-RAG/data/corpus/ynu001.md</a:t>
            </a:r>
          </a:p>
          <a:p>
            <a:r>
              <a:t>D:/Desktop/学习资料/LLM-RAG/LLM-RAG/data/corpus/ynu012.md</a:t>
            </a:r>
          </a:p>
          <a:p>
            <a:r>
              <a:t>D:/Desktop/学习资料/LLM-RAG/LLM-RAG/data/corpus/ynu030.md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20秒】本次结果支持检索帮助模型获取具体学校资料，但不能保证每题更好，也不能自动消除生成错误。当前还存在资料缺口、跨页表格结构和复杂建议的事实约束问题。下一步可以分别验证表格分块、查询改写、重排和事实核对；这些都是后续方向，当前展示的仍是基础版结果。代码、标注和分析使用了大模型辅助，提交前还应独立复核。</a:t>
            </a:r>
          </a:p>
          <a:p/>
          <a:p>
            <a:r>
              <a:t>来源：</a:t>
            </a:r>
          </a:p>
          <a:p>
            <a:r>
              <a:t>D:/Desktop/学习资料/LLM-RAG/LLM-RAG/docs/资料与实现说明.md</a:t>
            </a:r>
          </a:p>
          <a:p>
            <a:r>
              <a:t>D:/Desktop/学习资料/LLM-RAG/LLM-RAG/results/t1_summary.json</a:t>
            </a:r>
          </a:p>
          <a:p>
            <a:r>
              <a:t>D:/Desktop/学习资料/LLM-RAG/LLM-RAG/results/T1_基线与对照实验分析.md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5.svg"/><Relationship Id="rId7" Type="http://schemas.openxmlformats.org/officeDocument/2006/relationships/image" Target="../media/image12.png"/><Relationship Id="rId6" Type="http://schemas.openxmlformats.org/officeDocument/2006/relationships/image" Target="../media/image4.svg"/><Relationship Id="rId5" Type="http://schemas.openxmlformats.org/officeDocument/2006/relationships/image" Target="../media/image11.png"/><Relationship Id="rId4" Type="http://schemas.openxmlformats.org/officeDocument/2006/relationships/image" Target="../media/image3.svg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8.png"/><Relationship Id="rId10" Type="http://schemas.openxmlformats.org/officeDocument/2006/relationships/image" Target="../media/image6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5.svg"/><Relationship Id="rId7" Type="http://schemas.openxmlformats.org/officeDocument/2006/relationships/image" Target="../media/image12.png"/><Relationship Id="rId6" Type="http://schemas.openxmlformats.org/officeDocument/2006/relationships/image" Target="../media/image4.svg"/><Relationship Id="rId5" Type="http://schemas.openxmlformats.org/officeDocument/2006/relationships/image" Target="../media/image11.png"/><Relationship Id="rId4" Type="http://schemas.openxmlformats.org/officeDocument/2006/relationships/image" Target="../media/image3.svg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5.svg"/><Relationship Id="rId7" Type="http://schemas.openxmlformats.org/officeDocument/2006/relationships/image" Target="../media/image12.png"/><Relationship Id="rId6" Type="http://schemas.openxmlformats.org/officeDocument/2006/relationships/image" Target="../media/image4.svg"/><Relationship Id="rId5" Type="http://schemas.openxmlformats.org/officeDocument/2006/relationships/image" Target="../media/image11.png"/><Relationship Id="rId4" Type="http://schemas.openxmlformats.org/officeDocument/2006/relationships/image" Target="../media/image3.svg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5.svg"/><Relationship Id="rId7" Type="http://schemas.openxmlformats.org/officeDocument/2006/relationships/image" Target="../media/image12.png"/><Relationship Id="rId6" Type="http://schemas.openxmlformats.org/officeDocument/2006/relationships/image" Target="../media/image4.svg"/><Relationship Id="rId5" Type="http://schemas.openxmlformats.org/officeDocument/2006/relationships/image" Target="../media/image11.png"/><Relationship Id="rId4" Type="http://schemas.openxmlformats.org/officeDocument/2006/relationships/image" Target="../media/image3.svg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5.svg"/><Relationship Id="rId7" Type="http://schemas.openxmlformats.org/officeDocument/2006/relationships/image" Target="../media/image12.png"/><Relationship Id="rId6" Type="http://schemas.openxmlformats.org/officeDocument/2006/relationships/image" Target="../media/image4.svg"/><Relationship Id="rId5" Type="http://schemas.openxmlformats.org/officeDocument/2006/relationships/image" Target="../media/image11.png"/><Relationship Id="rId4" Type="http://schemas.openxmlformats.org/officeDocument/2006/relationships/image" Target="../media/image3.svg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.sv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12.png"/><Relationship Id="rId7" Type="http://schemas.openxmlformats.org/officeDocument/2006/relationships/image" Target="../media/image4.svg"/><Relationship Id="rId6" Type="http://schemas.openxmlformats.org/officeDocument/2006/relationships/image" Target="../media/image11.png"/><Relationship Id="rId5" Type="http://schemas.openxmlformats.org/officeDocument/2006/relationships/image" Target="../media/image3.svg"/><Relationship Id="rId4" Type="http://schemas.openxmlformats.org/officeDocument/2006/relationships/image" Target="../media/image10.png"/><Relationship Id="rId3" Type="http://schemas.openxmlformats.org/officeDocument/2006/relationships/image" Target="../media/image2.svg"/><Relationship Id="rId2" Type="http://schemas.openxmlformats.org/officeDocument/2006/relationships/image" Target="../media/image9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6.svg"/><Relationship Id="rId10" Type="http://schemas.openxmlformats.org/officeDocument/2006/relationships/image" Target="../media/image13.pn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5.svg"/><Relationship Id="rId7" Type="http://schemas.openxmlformats.org/officeDocument/2006/relationships/image" Target="../media/image12.png"/><Relationship Id="rId6" Type="http://schemas.openxmlformats.org/officeDocument/2006/relationships/image" Target="../media/image4.svg"/><Relationship Id="rId5" Type="http://schemas.openxmlformats.org/officeDocument/2006/relationships/image" Target="../media/image11.png"/><Relationship Id="rId4" Type="http://schemas.openxmlformats.org/officeDocument/2006/relationships/image" Target="../media/image3.svg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.sv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5.svg"/><Relationship Id="rId7" Type="http://schemas.openxmlformats.org/officeDocument/2006/relationships/image" Target="../media/image12.png"/><Relationship Id="rId6" Type="http://schemas.openxmlformats.org/officeDocument/2006/relationships/image" Target="../media/image4.svg"/><Relationship Id="rId5" Type="http://schemas.openxmlformats.org/officeDocument/2006/relationships/image" Target="../media/image11.png"/><Relationship Id="rId4" Type="http://schemas.openxmlformats.org/officeDocument/2006/relationships/image" Target="../media/image3.svg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.sv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" name="Freeform 3"/>
          <p:cNvSpPr>
            <a:spLocks noGrp="1"/>
          </p:cNvSpPr>
          <p:nvPr/>
        </p:nvSpPr>
        <p:spPr>
          <a:xfrm>
            <a:off x="9934317" y="186894"/>
            <a:ext cx="613619" cy="613620"/>
          </a:xfrm>
          <a:custGeom>
            <a:avLst/>
            <a:gdLst/>
            <a:ahLst/>
            <a:cxnLst/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7" name="Freeform 5"/>
          <p:cNvSpPr>
            <a:spLocks noGrp="1"/>
          </p:cNvSpPr>
          <p:nvPr/>
        </p:nvSpPr>
        <p:spPr>
          <a:xfrm>
            <a:off x="10652398" y="239734"/>
            <a:ext cx="292078" cy="390695"/>
          </a:xfrm>
          <a:custGeom>
            <a:avLst/>
            <a:gdLst/>
            <a:ahLst/>
            <a:cxnLst/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3" name="Freeform 8"/>
          <p:cNvSpPr>
            <a:spLocks noGrp="1"/>
          </p:cNvSpPr>
          <p:nvPr/>
        </p:nvSpPr>
        <p:spPr>
          <a:xfrm>
            <a:off x="10653884" y="671356"/>
            <a:ext cx="70915" cy="74996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4" name="Freeform 9"/>
          <p:cNvSpPr>
            <a:spLocks noGrp="1"/>
          </p:cNvSpPr>
          <p:nvPr/>
        </p:nvSpPr>
        <p:spPr>
          <a:xfrm>
            <a:off x="10737122" y="671356"/>
            <a:ext cx="64519" cy="77033"/>
          </a:xfrm>
          <a:custGeom>
            <a:avLst/>
            <a:gdLst/>
            <a:ahLst/>
            <a:cxnLst/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5" name="Freeform 10"/>
          <p:cNvSpPr>
            <a:spLocks noGrp="1"/>
          </p:cNvSpPr>
          <p:nvPr/>
        </p:nvSpPr>
        <p:spPr>
          <a:xfrm>
            <a:off x="10819892" y="671356"/>
            <a:ext cx="65105" cy="74996"/>
          </a:xfrm>
          <a:custGeom>
            <a:avLst/>
            <a:gdLst/>
            <a:ahLst/>
            <a:cxnLst/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6" name="Freeform 11"/>
          <p:cNvSpPr>
            <a:spLocks noGrp="1"/>
          </p:cNvSpPr>
          <p:nvPr/>
        </p:nvSpPr>
        <p:spPr>
          <a:xfrm>
            <a:off x="10902989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7" name="Freeform 12"/>
          <p:cNvSpPr>
            <a:spLocks noGrp="1"/>
          </p:cNvSpPr>
          <p:nvPr/>
        </p:nvSpPr>
        <p:spPr>
          <a:xfrm>
            <a:off x="10980651" y="671356"/>
            <a:ext cx="75764" cy="74996"/>
          </a:xfrm>
          <a:custGeom>
            <a:avLst/>
            <a:gdLst/>
            <a:ahLst/>
            <a:cxnLst/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8" name="Freeform 13"/>
          <p:cNvSpPr>
            <a:spLocks noGrp="1"/>
          </p:cNvSpPr>
          <p:nvPr/>
        </p:nvSpPr>
        <p:spPr>
          <a:xfrm>
            <a:off x="11069160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79" name="Freeform 14"/>
          <p:cNvSpPr>
            <a:spLocks noGrp="1"/>
          </p:cNvSpPr>
          <p:nvPr/>
        </p:nvSpPr>
        <p:spPr>
          <a:xfrm>
            <a:off x="10986115" y="294278"/>
            <a:ext cx="235586" cy="333351"/>
          </a:xfrm>
          <a:custGeom>
            <a:avLst/>
            <a:gdLst/>
            <a:ahLst/>
            <a:cxnLst/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0" name="Freeform 15"/>
          <p:cNvSpPr>
            <a:spLocks noGrp="1"/>
          </p:cNvSpPr>
          <p:nvPr/>
        </p:nvSpPr>
        <p:spPr>
          <a:xfrm>
            <a:off x="11298403" y="315340"/>
            <a:ext cx="240943" cy="281120"/>
          </a:xfrm>
          <a:custGeom>
            <a:avLst/>
            <a:gdLst/>
            <a:ahLst/>
            <a:cxnLst/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17"/>
          <p:cNvSpPr>
            <a:spLocks noGrp="1"/>
          </p:cNvSpPr>
          <p:nvPr/>
        </p:nvSpPr>
        <p:spPr>
          <a:xfrm>
            <a:off x="11634920" y="239734"/>
            <a:ext cx="234125" cy="390939"/>
          </a:xfrm>
          <a:custGeom>
            <a:avLst/>
            <a:gdLst/>
            <a:ahLst/>
            <a:cxnLst/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19"/>
          <p:cNvSpPr>
            <a:spLocks noGrp="1"/>
          </p:cNvSpPr>
          <p:nvPr/>
        </p:nvSpPr>
        <p:spPr>
          <a:xfrm>
            <a:off x="11186176" y="671328"/>
            <a:ext cx="64501" cy="77056"/>
          </a:xfrm>
          <a:custGeom>
            <a:avLst/>
            <a:gdLst/>
            <a:ahLst/>
            <a:cxnLst/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84" name="Freeform 20"/>
          <p:cNvSpPr>
            <a:spLocks noGrp="1"/>
          </p:cNvSpPr>
          <p:nvPr/>
        </p:nvSpPr>
        <p:spPr>
          <a:xfrm>
            <a:off x="11268952" y="671328"/>
            <a:ext cx="65086" cy="75019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85" name="Freeform 21"/>
          <p:cNvSpPr>
            <a:spLocks noGrp="1"/>
          </p:cNvSpPr>
          <p:nvPr/>
        </p:nvSpPr>
        <p:spPr>
          <a:xfrm>
            <a:off x="11351494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86" name="Freeform 22"/>
          <p:cNvSpPr>
            <a:spLocks noGrp="1"/>
          </p:cNvSpPr>
          <p:nvPr/>
        </p:nvSpPr>
        <p:spPr>
          <a:xfrm>
            <a:off x="11380171" y="671328"/>
            <a:ext cx="69936" cy="75019"/>
          </a:xfrm>
          <a:custGeom>
            <a:avLst/>
            <a:gdLst/>
            <a:ahLst/>
            <a:cxnLst/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87" name="Freeform 23"/>
          <p:cNvSpPr>
            <a:spLocks noGrp="1"/>
          </p:cNvSpPr>
          <p:nvPr/>
        </p:nvSpPr>
        <p:spPr>
          <a:xfrm>
            <a:off x="11463486" y="671328"/>
            <a:ext cx="60611" cy="75019"/>
          </a:xfrm>
          <a:custGeom>
            <a:avLst/>
            <a:gdLst/>
            <a:ahLst/>
            <a:cxnLst/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88" name="Freeform 24"/>
          <p:cNvSpPr>
            <a:spLocks noGrp="1"/>
          </p:cNvSpPr>
          <p:nvPr/>
        </p:nvSpPr>
        <p:spPr>
          <a:xfrm>
            <a:off x="11540452" y="671328"/>
            <a:ext cx="66867" cy="75019"/>
          </a:xfrm>
          <a:custGeom>
            <a:avLst/>
            <a:gdLst/>
            <a:ahLst/>
            <a:cxnLst/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89" name="Freeform 25"/>
          <p:cNvSpPr>
            <a:spLocks noGrp="1"/>
          </p:cNvSpPr>
          <p:nvPr/>
        </p:nvSpPr>
        <p:spPr>
          <a:xfrm>
            <a:off x="11619456" y="669290"/>
            <a:ext cx="65578" cy="79094"/>
          </a:xfrm>
          <a:custGeom>
            <a:avLst/>
            <a:gdLst/>
            <a:ahLst/>
            <a:cxnLst/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>
            <a:srgbClr val="1D2B5B"/>
          </a:solidFill>
        </p:spPr>
      </p:sp>
      <p:sp>
        <p:nvSpPr>
          <p:cNvPr id="90" name="Freeform 26"/>
          <p:cNvSpPr>
            <a:spLocks noGrp="1"/>
          </p:cNvSpPr>
          <p:nvPr/>
        </p:nvSpPr>
        <p:spPr>
          <a:xfrm>
            <a:off x="11699139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1" name="Freeform 27"/>
          <p:cNvSpPr>
            <a:spLocks noGrp="1"/>
          </p:cNvSpPr>
          <p:nvPr/>
        </p:nvSpPr>
        <p:spPr>
          <a:xfrm>
            <a:off x="11727278" y="671328"/>
            <a:ext cx="64899" cy="75019"/>
          </a:xfrm>
          <a:custGeom>
            <a:avLst/>
            <a:gdLst/>
            <a:ahLst/>
            <a:cxnLst/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2" name="Freeform 28"/>
          <p:cNvSpPr>
            <a:spLocks noGrp="1"/>
          </p:cNvSpPr>
          <p:nvPr/>
        </p:nvSpPr>
        <p:spPr>
          <a:xfrm>
            <a:off x="11798105" y="671328"/>
            <a:ext cx="70920" cy="75019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" name="文本框 1"/>
          <p:cNvSpPr>
            <a:spLocks noGrp="1"/>
          </p:cNvSpPr>
          <p:nvPr/>
        </p:nvSpPr>
        <p:spPr>
          <a:xfrm>
            <a:off x="1428750" y="2266950"/>
            <a:ext cx="93345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ctr"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ctr"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ctr"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ctr"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ctr"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ctr"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ctr"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ctr"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ctr"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ctr"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43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云南大学软件学院</a:t>
            </a:r>
            <a:endParaRPr sz="5400" b="1"/>
          </a:p>
          <a:p>
            <a: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43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知识库与基础RAG实践</a:t>
            </a:r>
            <a:endParaRPr sz="5400" b="1"/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095500" y="3886200"/>
            <a:ext cx="7620000" cy="308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ctr"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ctr"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ctr"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ctr"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ctr"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ctr"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ctr"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ctr"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ctr"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ctr"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ctr">
              <a:buNone/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025">
                <a:solidFill>
                  <a:srgbClr val="222A36"/>
                </a:solidFill>
                <a:latin typeface="等线"/>
                <a:ea typeface="等线"/>
                <a:cs typeface="等线"/>
              </a:rPr>
              <a:t>D2 数据准备　D3 评测集　T1 基线对照</a:t>
            </a:r>
            <a:endParaRPr sz="2025">
              <a:solidFill>
                <a:srgbClr val="222A36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3" name="Freeform 2"/>
          <p:cNvSpPr>
            <a:spLocks noGrp="1"/>
          </p:cNvSpPr>
          <p:nvPr/>
        </p:nvSpPr>
        <p:spPr>
          <a:xfrm>
            <a:off x="7466151" y="3777131"/>
            <a:ext cx="4674622" cy="3080869"/>
          </a:xfrm>
          <a:custGeom>
            <a:avLst/>
            <a:gdLst/>
            <a:ahLst/>
            <a:cxnLst/>
            <a:rect l="l" t="t" r="r" b="b"/>
            <a:pathLst>
              <a:path w="7247489" h="4776550">
                <a:moveTo>
                  <a:pt x="0" y="0"/>
                </a:moveTo>
                <a:lnTo>
                  <a:pt x="7247489" y="0"/>
                </a:lnTo>
                <a:lnTo>
                  <a:pt x="7247489" y="4776550"/>
                </a:lnTo>
                <a:lnTo>
                  <a:pt x="0" y="47765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/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377" y="4228472"/>
            <a:ext cx="1999536" cy="2629528"/>
          </a:xfrm>
          <a:prstGeom prst="rect">
            <a:avLst/>
          </a:prstGeom>
        </p:spPr>
      </p:pic>
      <p:sp>
        <p:nvSpPr>
          <p:cNvPr id="99" name="课程实践汇报"/>
          <p:cNvSpPr>
            <a:spLocks noGrp="1"/>
          </p:cNvSpPr>
          <p:nvPr/>
        </p:nvSpPr>
        <p:spPr>
          <a:xfrm>
            <a:off x="3429000" y="4524375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7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课程实践汇报</a:t>
            </a:r>
            <a:endParaRPr sz="17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2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47650" y="190500"/>
            <a:ext cx="919162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D2：知识库来源与规模</a:t>
            </a:r>
            <a:endParaRPr sz="2000" b="1"/>
          </a:p>
        </p:txBody>
      </p:sp>
      <p:sp>
        <p:nvSpPr>
          <p:cNvPr id="5" name="Freeform 3"/>
          <p:cNvSpPr>
            <a:spLocks noGrp="1"/>
          </p:cNvSpPr>
          <p:nvPr/>
        </p:nvSpPr>
        <p:spPr>
          <a:xfrm>
            <a:off x="9934317" y="186894"/>
            <a:ext cx="613619" cy="613620"/>
          </a:xfrm>
          <a:custGeom>
            <a:avLst/>
            <a:gdLst/>
            <a:ahLst/>
            <a:cxnLst/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/>
          <p:cNvSpPr>
            <a:spLocks noGrp="1"/>
          </p:cNvSpPr>
          <p:nvPr/>
        </p:nvSpPr>
        <p:spPr>
          <a:xfrm>
            <a:off x="10652398" y="239734"/>
            <a:ext cx="292078" cy="390695"/>
          </a:xfrm>
          <a:custGeom>
            <a:avLst/>
            <a:gdLst/>
            <a:ahLst/>
            <a:cxnLst/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8"/>
          <p:cNvSpPr>
            <a:spLocks noGrp="1"/>
          </p:cNvSpPr>
          <p:nvPr/>
        </p:nvSpPr>
        <p:spPr>
          <a:xfrm>
            <a:off x="10653884" y="671356"/>
            <a:ext cx="70915" cy="74996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4" name="Freeform 9"/>
          <p:cNvSpPr>
            <a:spLocks noGrp="1"/>
          </p:cNvSpPr>
          <p:nvPr/>
        </p:nvSpPr>
        <p:spPr>
          <a:xfrm>
            <a:off x="10737122" y="671356"/>
            <a:ext cx="64519" cy="77033"/>
          </a:xfrm>
          <a:custGeom>
            <a:avLst/>
            <a:gdLst/>
            <a:ahLst/>
            <a:cxnLst/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5" name="Freeform 10"/>
          <p:cNvSpPr>
            <a:spLocks noGrp="1"/>
          </p:cNvSpPr>
          <p:nvPr/>
        </p:nvSpPr>
        <p:spPr>
          <a:xfrm>
            <a:off x="10819892" y="671356"/>
            <a:ext cx="65105" cy="74996"/>
          </a:xfrm>
          <a:custGeom>
            <a:avLst/>
            <a:gdLst/>
            <a:ahLst/>
            <a:cxnLst/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6" name="Freeform 11"/>
          <p:cNvSpPr>
            <a:spLocks noGrp="1"/>
          </p:cNvSpPr>
          <p:nvPr/>
        </p:nvSpPr>
        <p:spPr>
          <a:xfrm>
            <a:off x="10902989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7" name="Freeform 12"/>
          <p:cNvSpPr>
            <a:spLocks noGrp="1"/>
          </p:cNvSpPr>
          <p:nvPr/>
        </p:nvSpPr>
        <p:spPr>
          <a:xfrm>
            <a:off x="10980651" y="671356"/>
            <a:ext cx="75764" cy="74996"/>
          </a:xfrm>
          <a:custGeom>
            <a:avLst/>
            <a:gdLst/>
            <a:ahLst/>
            <a:cxnLst/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8" name="Freeform 13"/>
          <p:cNvSpPr>
            <a:spLocks noGrp="1"/>
          </p:cNvSpPr>
          <p:nvPr/>
        </p:nvSpPr>
        <p:spPr>
          <a:xfrm>
            <a:off x="11069160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" name="Freeform 14"/>
          <p:cNvSpPr>
            <a:spLocks noGrp="1"/>
          </p:cNvSpPr>
          <p:nvPr/>
        </p:nvSpPr>
        <p:spPr>
          <a:xfrm>
            <a:off x="10986115" y="294278"/>
            <a:ext cx="235586" cy="333351"/>
          </a:xfrm>
          <a:custGeom>
            <a:avLst/>
            <a:gdLst/>
            <a:ahLst/>
            <a:cxnLst/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5"/>
          <p:cNvSpPr>
            <a:spLocks noGrp="1"/>
          </p:cNvSpPr>
          <p:nvPr/>
        </p:nvSpPr>
        <p:spPr>
          <a:xfrm>
            <a:off x="11298403" y="315340"/>
            <a:ext cx="240943" cy="281120"/>
          </a:xfrm>
          <a:custGeom>
            <a:avLst/>
            <a:gdLst/>
            <a:ahLst/>
            <a:cxnLst/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7"/>
          <p:cNvSpPr>
            <a:spLocks noGrp="1"/>
          </p:cNvSpPr>
          <p:nvPr/>
        </p:nvSpPr>
        <p:spPr>
          <a:xfrm>
            <a:off x="11634920" y="239734"/>
            <a:ext cx="234125" cy="390939"/>
          </a:xfrm>
          <a:custGeom>
            <a:avLst/>
            <a:gdLst/>
            <a:ahLst/>
            <a:cxnLst/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9"/>
          <p:cNvSpPr>
            <a:spLocks noGrp="1"/>
          </p:cNvSpPr>
          <p:nvPr/>
        </p:nvSpPr>
        <p:spPr>
          <a:xfrm>
            <a:off x="11186176" y="671328"/>
            <a:ext cx="64501" cy="77056"/>
          </a:xfrm>
          <a:custGeom>
            <a:avLst/>
            <a:gdLst/>
            <a:ahLst/>
            <a:cxnLst/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4" name="Freeform 20"/>
          <p:cNvSpPr>
            <a:spLocks noGrp="1"/>
          </p:cNvSpPr>
          <p:nvPr/>
        </p:nvSpPr>
        <p:spPr>
          <a:xfrm>
            <a:off x="11268952" y="671328"/>
            <a:ext cx="65086" cy="75019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5" name="Freeform 21"/>
          <p:cNvSpPr>
            <a:spLocks noGrp="1"/>
          </p:cNvSpPr>
          <p:nvPr/>
        </p:nvSpPr>
        <p:spPr>
          <a:xfrm>
            <a:off x="11351494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6" name="Freeform 22"/>
          <p:cNvSpPr>
            <a:spLocks noGrp="1"/>
          </p:cNvSpPr>
          <p:nvPr/>
        </p:nvSpPr>
        <p:spPr>
          <a:xfrm>
            <a:off x="11380171" y="671328"/>
            <a:ext cx="69936" cy="75019"/>
          </a:xfrm>
          <a:custGeom>
            <a:avLst/>
            <a:gdLst/>
            <a:ahLst/>
            <a:cxnLst/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7" name="Freeform 23"/>
          <p:cNvSpPr>
            <a:spLocks noGrp="1"/>
          </p:cNvSpPr>
          <p:nvPr/>
        </p:nvSpPr>
        <p:spPr>
          <a:xfrm>
            <a:off x="11463486" y="671328"/>
            <a:ext cx="60611" cy="75019"/>
          </a:xfrm>
          <a:custGeom>
            <a:avLst/>
            <a:gdLst/>
            <a:ahLst/>
            <a:cxnLst/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8" name="Freeform 24"/>
          <p:cNvSpPr>
            <a:spLocks noGrp="1"/>
          </p:cNvSpPr>
          <p:nvPr/>
        </p:nvSpPr>
        <p:spPr>
          <a:xfrm>
            <a:off x="11540452" y="671328"/>
            <a:ext cx="66867" cy="75019"/>
          </a:xfrm>
          <a:custGeom>
            <a:avLst/>
            <a:gdLst/>
            <a:ahLst/>
            <a:cxnLst/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9" name="Freeform 25"/>
          <p:cNvSpPr>
            <a:spLocks noGrp="1"/>
          </p:cNvSpPr>
          <p:nvPr/>
        </p:nvSpPr>
        <p:spPr>
          <a:xfrm>
            <a:off x="11619456" y="669290"/>
            <a:ext cx="65578" cy="79094"/>
          </a:xfrm>
          <a:custGeom>
            <a:avLst/>
            <a:gdLst/>
            <a:ahLst/>
            <a:cxnLst/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>
            <a:srgbClr val="1D2B5B"/>
          </a:solidFill>
        </p:spPr>
      </p:sp>
      <p:sp>
        <p:nvSpPr>
          <p:cNvPr id="20" name="Freeform 26"/>
          <p:cNvSpPr>
            <a:spLocks noGrp="1"/>
          </p:cNvSpPr>
          <p:nvPr/>
        </p:nvSpPr>
        <p:spPr>
          <a:xfrm>
            <a:off x="11699139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1" name="Freeform 27"/>
          <p:cNvSpPr>
            <a:spLocks noGrp="1"/>
          </p:cNvSpPr>
          <p:nvPr/>
        </p:nvSpPr>
        <p:spPr>
          <a:xfrm>
            <a:off x="11727278" y="671328"/>
            <a:ext cx="64899" cy="75019"/>
          </a:xfrm>
          <a:custGeom>
            <a:avLst/>
            <a:gdLst/>
            <a:ahLst/>
            <a:cxnLst/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2" name="Freeform 28"/>
          <p:cNvSpPr>
            <a:spLocks noGrp="1"/>
          </p:cNvSpPr>
          <p:nvPr/>
        </p:nvSpPr>
        <p:spPr>
          <a:xfrm>
            <a:off x="11798105" y="671328"/>
            <a:ext cx="70920" cy="75019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152525">
            <a:off x="9099344" y="3620149"/>
            <a:ext cx="2535001" cy="3333701"/>
          </a:xfrm>
          <a:prstGeom prst="rect">
            <a:avLst/>
          </a:prstGeom>
        </p:spPr>
      </p:pic>
      <p:sp>
        <p:nvSpPr>
          <p:cNvPr id="43" name="02 / 10"/>
          <p:cNvSpPr>
            <a:spLocks noGrp="1"/>
          </p:cNvSpPr>
          <p:nvPr/>
        </p:nvSpPr>
        <p:spPr>
          <a:xfrm>
            <a:off x="11001375" y="64198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02 / 10</a:t>
            </a:r>
            <a:endParaRPr sz="1200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4" name="23 篇"/>
          <p:cNvSpPr>
            <a:spLocks noGrp="1"/>
          </p:cNvSpPr>
          <p:nvPr/>
        </p:nvSpPr>
        <p:spPr>
          <a:xfrm>
            <a:off x="666750" y="1190625"/>
            <a:ext cx="266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45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45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45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45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45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45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45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45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45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45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45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23 篇</a:t>
            </a:r>
            <a:endParaRPr sz="4500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5" name="92,439 字符"/>
          <p:cNvSpPr>
            <a:spLocks noGrp="1"/>
          </p:cNvSpPr>
          <p:nvPr/>
        </p:nvSpPr>
        <p:spPr>
          <a:xfrm>
            <a:off x="3667125" y="1285875"/>
            <a:ext cx="457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33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33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33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33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33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33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33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33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33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33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33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92,439 字符</a:t>
            </a:r>
            <a:endParaRPr sz="3375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6" name="正文含汉字 61,893 个"/>
          <p:cNvSpPr>
            <a:spLocks noGrp="1"/>
          </p:cNvSpPr>
          <p:nvPr/>
        </p:nvSpPr>
        <p:spPr>
          <a:xfrm>
            <a:off x="3714750" y="1885950"/>
            <a:ext cx="457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8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8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8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8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8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8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8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8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8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8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正文含汉字 61,893 个</a:t>
            </a:r>
            <a:endParaRPr sz="1800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  <p:graphicFrame>
        <p:nvGraphicFramePr>
          <p:cNvPr id="47" name="表格 46"/>
          <p:cNvGraphicFramePr/>
          <p:nvPr/>
        </p:nvGraphicFramePr>
        <p:xfrm>
          <a:off x="666750" y="2381250"/>
          <a:ext cx="7239000" cy="3143250"/>
        </p:xfrm>
        <a:graphic>
          <a:graphicData uri="http://schemas.openxmlformats.org/drawingml/2006/table">
            <a:tbl>
              <a:tblPr/>
              <a:tblGrid>
                <a:gridCol w="5334000"/>
                <a:gridCol w="1905000"/>
              </a:tblGrid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资料类型</a:t>
                      </a:r>
                      <a:endParaRPr sz="1950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篇数</a:t>
                      </a:r>
                      <a:endParaRPr sz="1950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培养与专业介绍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8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公开课程大纲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3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选课与学业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7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推免推荐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3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推免接收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2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48" name="来源：学校、学院和教务处官网，以及云南大学公开慕课页面。&#10;专业简介与"/>
          <p:cNvSpPr>
            <a:spLocks noGrp="1"/>
          </p:cNvSpPr>
          <p:nvPr/>
        </p:nvSpPr>
        <p:spPr>
          <a:xfrm>
            <a:off x="628650" y="5762625"/>
            <a:ext cx="10858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来源：学校、学院和教务处官网，以及云南大学公开慕课页面。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2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47650" y="190500"/>
            <a:ext cx="919162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D2：解析与资料质量控制</a:t>
            </a:r>
            <a:endParaRPr sz="2000" b="1"/>
          </a:p>
        </p:txBody>
      </p:sp>
      <p:sp>
        <p:nvSpPr>
          <p:cNvPr id="5" name="Freeform 3"/>
          <p:cNvSpPr>
            <a:spLocks noGrp="1"/>
          </p:cNvSpPr>
          <p:nvPr/>
        </p:nvSpPr>
        <p:spPr>
          <a:xfrm>
            <a:off x="9934317" y="186894"/>
            <a:ext cx="613619" cy="613620"/>
          </a:xfrm>
          <a:custGeom>
            <a:avLst/>
            <a:gdLst/>
            <a:ahLst/>
            <a:cxnLst/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/>
          <p:cNvSpPr>
            <a:spLocks noGrp="1"/>
          </p:cNvSpPr>
          <p:nvPr/>
        </p:nvSpPr>
        <p:spPr>
          <a:xfrm>
            <a:off x="10652398" y="239734"/>
            <a:ext cx="292078" cy="390695"/>
          </a:xfrm>
          <a:custGeom>
            <a:avLst/>
            <a:gdLst/>
            <a:ahLst/>
            <a:cxnLst/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8"/>
          <p:cNvSpPr>
            <a:spLocks noGrp="1"/>
          </p:cNvSpPr>
          <p:nvPr/>
        </p:nvSpPr>
        <p:spPr>
          <a:xfrm>
            <a:off x="10653884" y="671356"/>
            <a:ext cx="70915" cy="74996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4" name="Freeform 9"/>
          <p:cNvSpPr>
            <a:spLocks noGrp="1"/>
          </p:cNvSpPr>
          <p:nvPr/>
        </p:nvSpPr>
        <p:spPr>
          <a:xfrm>
            <a:off x="10737122" y="671356"/>
            <a:ext cx="64519" cy="77033"/>
          </a:xfrm>
          <a:custGeom>
            <a:avLst/>
            <a:gdLst/>
            <a:ahLst/>
            <a:cxnLst/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5" name="Freeform 10"/>
          <p:cNvSpPr>
            <a:spLocks noGrp="1"/>
          </p:cNvSpPr>
          <p:nvPr/>
        </p:nvSpPr>
        <p:spPr>
          <a:xfrm>
            <a:off x="10819892" y="671356"/>
            <a:ext cx="65105" cy="74996"/>
          </a:xfrm>
          <a:custGeom>
            <a:avLst/>
            <a:gdLst/>
            <a:ahLst/>
            <a:cxnLst/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6" name="Freeform 11"/>
          <p:cNvSpPr>
            <a:spLocks noGrp="1"/>
          </p:cNvSpPr>
          <p:nvPr/>
        </p:nvSpPr>
        <p:spPr>
          <a:xfrm>
            <a:off x="10902989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7" name="Freeform 12"/>
          <p:cNvSpPr>
            <a:spLocks noGrp="1"/>
          </p:cNvSpPr>
          <p:nvPr/>
        </p:nvSpPr>
        <p:spPr>
          <a:xfrm>
            <a:off x="10980651" y="671356"/>
            <a:ext cx="75764" cy="74996"/>
          </a:xfrm>
          <a:custGeom>
            <a:avLst/>
            <a:gdLst/>
            <a:ahLst/>
            <a:cxnLst/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8" name="Freeform 13"/>
          <p:cNvSpPr>
            <a:spLocks noGrp="1"/>
          </p:cNvSpPr>
          <p:nvPr/>
        </p:nvSpPr>
        <p:spPr>
          <a:xfrm>
            <a:off x="11069160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" name="Freeform 14"/>
          <p:cNvSpPr>
            <a:spLocks noGrp="1"/>
          </p:cNvSpPr>
          <p:nvPr/>
        </p:nvSpPr>
        <p:spPr>
          <a:xfrm>
            <a:off x="10986115" y="294278"/>
            <a:ext cx="235586" cy="333351"/>
          </a:xfrm>
          <a:custGeom>
            <a:avLst/>
            <a:gdLst/>
            <a:ahLst/>
            <a:cxnLst/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5"/>
          <p:cNvSpPr>
            <a:spLocks noGrp="1"/>
          </p:cNvSpPr>
          <p:nvPr/>
        </p:nvSpPr>
        <p:spPr>
          <a:xfrm>
            <a:off x="11298403" y="315340"/>
            <a:ext cx="240943" cy="281120"/>
          </a:xfrm>
          <a:custGeom>
            <a:avLst/>
            <a:gdLst/>
            <a:ahLst/>
            <a:cxnLst/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7"/>
          <p:cNvSpPr>
            <a:spLocks noGrp="1"/>
          </p:cNvSpPr>
          <p:nvPr/>
        </p:nvSpPr>
        <p:spPr>
          <a:xfrm>
            <a:off x="11634920" y="239734"/>
            <a:ext cx="234125" cy="390939"/>
          </a:xfrm>
          <a:custGeom>
            <a:avLst/>
            <a:gdLst/>
            <a:ahLst/>
            <a:cxnLst/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9"/>
          <p:cNvSpPr>
            <a:spLocks noGrp="1"/>
          </p:cNvSpPr>
          <p:nvPr/>
        </p:nvSpPr>
        <p:spPr>
          <a:xfrm>
            <a:off x="11186176" y="671328"/>
            <a:ext cx="64501" cy="77056"/>
          </a:xfrm>
          <a:custGeom>
            <a:avLst/>
            <a:gdLst/>
            <a:ahLst/>
            <a:cxnLst/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4" name="Freeform 20"/>
          <p:cNvSpPr>
            <a:spLocks noGrp="1"/>
          </p:cNvSpPr>
          <p:nvPr/>
        </p:nvSpPr>
        <p:spPr>
          <a:xfrm>
            <a:off x="11268952" y="671328"/>
            <a:ext cx="65086" cy="75019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5" name="Freeform 21"/>
          <p:cNvSpPr>
            <a:spLocks noGrp="1"/>
          </p:cNvSpPr>
          <p:nvPr/>
        </p:nvSpPr>
        <p:spPr>
          <a:xfrm>
            <a:off x="11351494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6" name="Freeform 22"/>
          <p:cNvSpPr>
            <a:spLocks noGrp="1"/>
          </p:cNvSpPr>
          <p:nvPr/>
        </p:nvSpPr>
        <p:spPr>
          <a:xfrm>
            <a:off x="11380171" y="671328"/>
            <a:ext cx="69936" cy="75019"/>
          </a:xfrm>
          <a:custGeom>
            <a:avLst/>
            <a:gdLst/>
            <a:ahLst/>
            <a:cxnLst/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7" name="Freeform 23"/>
          <p:cNvSpPr>
            <a:spLocks noGrp="1"/>
          </p:cNvSpPr>
          <p:nvPr/>
        </p:nvSpPr>
        <p:spPr>
          <a:xfrm>
            <a:off x="11463486" y="671328"/>
            <a:ext cx="60611" cy="75019"/>
          </a:xfrm>
          <a:custGeom>
            <a:avLst/>
            <a:gdLst/>
            <a:ahLst/>
            <a:cxnLst/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8" name="Freeform 24"/>
          <p:cNvSpPr>
            <a:spLocks noGrp="1"/>
          </p:cNvSpPr>
          <p:nvPr/>
        </p:nvSpPr>
        <p:spPr>
          <a:xfrm>
            <a:off x="11540452" y="671328"/>
            <a:ext cx="66867" cy="75019"/>
          </a:xfrm>
          <a:custGeom>
            <a:avLst/>
            <a:gdLst/>
            <a:ahLst/>
            <a:cxnLst/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9" name="Freeform 25"/>
          <p:cNvSpPr>
            <a:spLocks noGrp="1"/>
          </p:cNvSpPr>
          <p:nvPr/>
        </p:nvSpPr>
        <p:spPr>
          <a:xfrm>
            <a:off x="11619456" y="669290"/>
            <a:ext cx="65578" cy="79094"/>
          </a:xfrm>
          <a:custGeom>
            <a:avLst/>
            <a:gdLst/>
            <a:ahLst/>
            <a:cxnLst/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>
            <a:srgbClr val="1D2B5B"/>
          </a:solidFill>
        </p:spPr>
      </p:sp>
      <p:sp>
        <p:nvSpPr>
          <p:cNvPr id="20" name="Freeform 26"/>
          <p:cNvSpPr>
            <a:spLocks noGrp="1"/>
          </p:cNvSpPr>
          <p:nvPr/>
        </p:nvSpPr>
        <p:spPr>
          <a:xfrm>
            <a:off x="11699139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1" name="Freeform 27"/>
          <p:cNvSpPr>
            <a:spLocks noGrp="1"/>
          </p:cNvSpPr>
          <p:nvPr/>
        </p:nvSpPr>
        <p:spPr>
          <a:xfrm>
            <a:off x="11727278" y="671328"/>
            <a:ext cx="64899" cy="75019"/>
          </a:xfrm>
          <a:custGeom>
            <a:avLst/>
            <a:gdLst/>
            <a:ahLst/>
            <a:cxnLst/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2" name="Freeform 28"/>
          <p:cNvSpPr>
            <a:spLocks noGrp="1"/>
          </p:cNvSpPr>
          <p:nvPr/>
        </p:nvSpPr>
        <p:spPr>
          <a:xfrm>
            <a:off x="11798105" y="671328"/>
            <a:ext cx="70920" cy="75019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9" name="03 / 10"/>
          <p:cNvSpPr>
            <a:spLocks noGrp="1"/>
          </p:cNvSpPr>
          <p:nvPr/>
        </p:nvSpPr>
        <p:spPr>
          <a:xfrm>
            <a:off x="11001375" y="64198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03 / 10</a:t>
            </a:r>
            <a:endParaRPr sz="1200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0" name="统一读取 Markdown"/>
          <p:cNvSpPr>
            <a:spLocks noGrp="1"/>
          </p:cNvSpPr>
          <p:nvPr/>
        </p:nvSpPr>
        <p:spPr>
          <a:xfrm>
            <a:off x="628650" y="1266825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5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统一读取 Markdown</a:t>
            </a:r>
            <a:endParaRPr sz="2550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1" name="原始网页、PDF保留归档&#10;PDF按页提取，扫描页使用OCR&#10;保留正文"/>
          <p:cNvSpPr>
            <a:spLocks noGrp="1"/>
          </p:cNvSpPr>
          <p:nvPr/>
        </p:nvSpPr>
        <p:spPr>
          <a:xfrm>
            <a:off x="628650" y="2000250"/>
            <a:ext cx="5286375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原始网页、PDF保留归档</a:t>
            </a:r>
            <a:endParaRPr sz="2175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  <a:p>
            <a: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PDF按页提取，扫描页使用OCR</a:t>
            </a:r>
            <a:endParaRPr sz="2175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  <a:p>
            <a: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保留正文、标题与有用表格内容</a:t>
            </a:r>
            <a:endParaRPr sz="2175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2" name="每条资料可追溯"/>
          <p:cNvSpPr>
            <a:spLocks noGrp="1"/>
          </p:cNvSpPr>
          <p:nvPr/>
        </p:nvSpPr>
        <p:spPr>
          <a:xfrm>
            <a:off x="6429375" y="1266825"/>
            <a:ext cx="5095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5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5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每条资料可追溯</a:t>
            </a:r>
            <a:endParaRPr sz="2550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3" name="文档编号与官方来源链接&#10;政策版本、适用范围、PDF页码&#10;正文和原始文"/>
          <p:cNvSpPr>
            <a:spLocks noGrp="1"/>
          </p:cNvSpPr>
          <p:nvPr/>
        </p:nvSpPr>
        <p:spPr>
          <a:xfrm>
            <a:off x="6429375" y="2000250"/>
            <a:ext cx="5095875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文档编号与官方来源链接</a:t>
            </a:r>
            <a:endParaRPr sz="2175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  <a:p>
            <a: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政策版本、适用范围、PDF页码</a:t>
            </a:r>
            <a:endParaRPr sz="2175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  <a:p>
            <a: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正文和原始文件哈希</a:t>
            </a:r>
            <a:endParaRPr sz="2175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4" name="8 篇资料对应 PDF"/>
          <p:cNvSpPr>
            <a:spLocks noGrp="1"/>
          </p:cNvSpPr>
          <p:nvPr/>
        </p:nvSpPr>
        <p:spPr>
          <a:xfrm>
            <a:off x="628650" y="438150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4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4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4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4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4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4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4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4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4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4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4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8 篇资料对应 PDF</a:t>
            </a:r>
            <a:endParaRPr sz="2400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5" name="PyMuPDF按页提取；Windows OCR处理扫描页"/>
          <p:cNvSpPr>
            <a:spLocks noGrp="1"/>
          </p:cNvSpPr>
          <p:nvPr/>
        </p:nvSpPr>
        <p:spPr>
          <a:xfrm>
            <a:off x="628650" y="49530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PyMuPDF按页提取；Windows OCR处理扫描页</a:t>
            </a:r>
            <a:endParaRPr sz="2025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6" name="质量边界：部分选课附件未取得，OCR与跨页表格仍可能影响检索。&#10;哈希"/>
          <p:cNvSpPr>
            <a:spLocks noGrp="1"/>
          </p:cNvSpPr>
          <p:nvPr/>
        </p:nvSpPr>
        <p:spPr>
          <a:xfrm>
            <a:off x="628650" y="5857875"/>
            <a:ext cx="10858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质量边界：部分选课附件未取得，OCR与跨页表格仍可能影响检索。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哈希用于核对文件一致性，不能证明政策始终有效。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2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47650" y="190500"/>
            <a:ext cx="919162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D3：四级评测与真实证据块</a:t>
            </a:r>
            <a:endParaRPr sz="2000" b="1"/>
          </a:p>
        </p:txBody>
      </p:sp>
      <p:sp>
        <p:nvSpPr>
          <p:cNvPr id="5" name="Freeform 3"/>
          <p:cNvSpPr>
            <a:spLocks noGrp="1"/>
          </p:cNvSpPr>
          <p:nvPr/>
        </p:nvSpPr>
        <p:spPr>
          <a:xfrm>
            <a:off x="9934317" y="186894"/>
            <a:ext cx="613619" cy="613620"/>
          </a:xfrm>
          <a:custGeom>
            <a:avLst/>
            <a:gdLst/>
            <a:ahLst/>
            <a:cxnLst/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/>
          <p:cNvSpPr>
            <a:spLocks noGrp="1"/>
          </p:cNvSpPr>
          <p:nvPr/>
        </p:nvSpPr>
        <p:spPr>
          <a:xfrm>
            <a:off x="10652398" y="239734"/>
            <a:ext cx="292078" cy="390695"/>
          </a:xfrm>
          <a:custGeom>
            <a:avLst/>
            <a:gdLst/>
            <a:ahLst/>
            <a:cxnLst/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8"/>
          <p:cNvSpPr>
            <a:spLocks noGrp="1"/>
          </p:cNvSpPr>
          <p:nvPr/>
        </p:nvSpPr>
        <p:spPr>
          <a:xfrm>
            <a:off x="10653884" y="671356"/>
            <a:ext cx="70915" cy="74996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4" name="Freeform 9"/>
          <p:cNvSpPr>
            <a:spLocks noGrp="1"/>
          </p:cNvSpPr>
          <p:nvPr/>
        </p:nvSpPr>
        <p:spPr>
          <a:xfrm>
            <a:off x="10737122" y="671356"/>
            <a:ext cx="64519" cy="77033"/>
          </a:xfrm>
          <a:custGeom>
            <a:avLst/>
            <a:gdLst/>
            <a:ahLst/>
            <a:cxnLst/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5" name="Freeform 10"/>
          <p:cNvSpPr>
            <a:spLocks noGrp="1"/>
          </p:cNvSpPr>
          <p:nvPr/>
        </p:nvSpPr>
        <p:spPr>
          <a:xfrm>
            <a:off x="10819892" y="671356"/>
            <a:ext cx="65105" cy="74996"/>
          </a:xfrm>
          <a:custGeom>
            <a:avLst/>
            <a:gdLst/>
            <a:ahLst/>
            <a:cxnLst/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6" name="Freeform 11"/>
          <p:cNvSpPr>
            <a:spLocks noGrp="1"/>
          </p:cNvSpPr>
          <p:nvPr/>
        </p:nvSpPr>
        <p:spPr>
          <a:xfrm>
            <a:off x="10902989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7" name="Freeform 12"/>
          <p:cNvSpPr>
            <a:spLocks noGrp="1"/>
          </p:cNvSpPr>
          <p:nvPr/>
        </p:nvSpPr>
        <p:spPr>
          <a:xfrm>
            <a:off x="10980651" y="671356"/>
            <a:ext cx="75764" cy="74996"/>
          </a:xfrm>
          <a:custGeom>
            <a:avLst/>
            <a:gdLst/>
            <a:ahLst/>
            <a:cxnLst/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8" name="Freeform 13"/>
          <p:cNvSpPr>
            <a:spLocks noGrp="1"/>
          </p:cNvSpPr>
          <p:nvPr/>
        </p:nvSpPr>
        <p:spPr>
          <a:xfrm>
            <a:off x="11069160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" name="Freeform 14"/>
          <p:cNvSpPr>
            <a:spLocks noGrp="1"/>
          </p:cNvSpPr>
          <p:nvPr/>
        </p:nvSpPr>
        <p:spPr>
          <a:xfrm>
            <a:off x="10986115" y="294278"/>
            <a:ext cx="235586" cy="333351"/>
          </a:xfrm>
          <a:custGeom>
            <a:avLst/>
            <a:gdLst/>
            <a:ahLst/>
            <a:cxnLst/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5"/>
          <p:cNvSpPr>
            <a:spLocks noGrp="1"/>
          </p:cNvSpPr>
          <p:nvPr/>
        </p:nvSpPr>
        <p:spPr>
          <a:xfrm>
            <a:off x="11298403" y="315340"/>
            <a:ext cx="240943" cy="281120"/>
          </a:xfrm>
          <a:custGeom>
            <a:avLst/>
            <a:gdLst/>
            <a:ahLst/>
            <a:cxnLst/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7"/>
          <p:cNvSpPr>
            <a:spLocks noGrp="1"/>
          </p:cNvSpPr>
          <p:nvPr/>
        </p:nvSpPr>
        <p:spPr>
          <a:xfrm>
            <a:off x="11634920" y="239734"/>
            <a:ext cx="234125" cy="390939"/>
          </a:xfrm>
          <a:custGeom>
            <a:avLst/>
            <a:gdLst/>
            <a:ahLst/>
            <a:cxnLst/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9"/>
          <p:cNvSpPr>
            <a:spLocks noGrp="1"/>
          </p:cNvSpPr>
          <p:nvPr/>
        </p:nvSpPr>
        <p:spPr>
          <a:xfrm>
            <a:off x="11186176" y="671328"/>
            <a:ext cx="64501" cy="77056"/>
          </a:xfrm>
          <a:custGeom>
            <a:avLst/>
            <a:gdLst/>
            <a:ahLst/>
            <a:cxnLst/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4" name="Freeform 20"/>
          <p:cNvSpPr>
            <a:spLocks noGrp="1"/>
          </p:cNvSpPr>
          <p:nvPr/>
        </p:nvSpPr>
        <p:spPr>
          <a:xfrm>
            <a:off x="11268952" y="671328"/>
            <a:ext cx="65086" cy="75019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5" name="Freeform 21"/>
          <p:cNvSpPr>
            <a:spLocks noGrp="1"/>
          </p:cNvSpPr>
          <p:nvPr/>
        </p:nvSpPr>
        <p:spPr>
          <a:xfrm>
            <a:off x="11351494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6" name="Freeform 22"/>
          <p:cNvSpPr>
            <a:spLocks noGrp="1"/>
          </p:cNvSpPr>
          <p:nvPr/>
        </p:nvSpPr>
        <p:spPr>
          <a:xfrm>
            <a:off x="11380171" y="671328"/>
            <a:ext cx="69936" cy="75019"/>
          </a:xfrm>
          <a:custGeom>
            <a:avLst/>
            <a:gdLst/>
            <a:ahLst/>
            <a:cxnLst/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7" name="Freeform 23"/>
          <p:cNvSpPr>
            <a:spLocks noGrp="1"/>
          </p:cNvSpPr>
          <p:nvPr/>
        </p:nvSpPr>
        <p:spPr>
          <a:xfrm>
            <a:off x="11463486" y="671328"/>
            <a:ext cx="60611" cy="75019"/>
          </a:xfrm>
          <a:custGeom>
            <a:avLst/>
            <a:gdLst/>
            <a:ahLst/>
            <a:cxnLst/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8" name="Freeform 24"/>
          <p:cNvSpPr>
            <a:spLocks noGrp="1"/>
          </p:cNvSpPr>
          <p:nvPr/>
        </p:nvSpPr>
        <p:spPr>
          <a:xfrm>
            <a:off x="11540452" y="671328"/>
            <a:ext cx="66867" cy="75019"/>
          </a:xfrm>
          <a:custGeom>
            <a:avLst/>
            <a:gdLst/>
            <a:ahLst/>
            <a:cxnLst/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9" name="Freeform 25"/>
          <p:cNvSpPr>
            <a:spLocks noGrp="1"/>
          </p:cNvSpPr>
          <p:nvPr/>
        </p:nvSpPr>
        <p:spPr>
          <a:xfrm>
            <a:off x="11619456" y="669290"/>
            <a:ext cx="65578" cy="79094"/>
          </a:xfrm>
          <a:custGeom>
            <a:avLst/>
            <a:gdLst/>
            <a:ahLst/>
            <a:cxnLst/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>
            <a:srgbClr val="1D2B5B"/>
          </a:solidFill>
        </p:spPr>
      </p:sp>
      <p:sp>
        <p:nvSpPr>
          <p:cNvPr id="20" name="Freeform 26"/>
          <p:cNvSpPr>
            <a:spLocks noGrp="1"/>
          </p:cNvSpPr>
          <p:nvPr/>
        </p:nvSpPr>
        <p:spPr>
          <a:xfrm>
            <a:off x="11699139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1" name="Freeform 27"/>
          <p:cNvSpPr>
            <a:spLocks noGrp="1"/>
          </p:cNvSpPr>
          <p:nvPr/>
        </p:nvSpPr>
        <p:spPr>
          <a:xfrm>
            <a:off x="11727278" y="671328"/>
            <a:ext cx="64899" cy="75019"/>
          </a:xfrm>
          <a:custGeom>
            <a:avLst/>
            <a:gdLst/>
            <a:ahLst/>
            <a:cxnLst/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2" name="Freeform 28"/>
          <p:cNvSpPr>
            <a:spLocks noGrp="1"/>
          </p:cNvSpPr>
          <p:nvPr/>
        </p:nvSpPr>
        <p:spPr>
          <a:xfrm>
            <a:off x="11798105" y="671328"/>
            <a:ext cx="70920" cy="75019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9" name="04 / 10"/>
          <p:cNvSpPr>
            <a:spLocks noGrp="1"/>
          </p:cNvSpPr>
          <p:nvPr/>
        </p:nvSpPr>
        <p:spPr>
          <a:xfrm>
            <a:off x="11001375" y="64198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04 / 10</a:t>
            </a:r>
            <a:endParaRPr sz="1200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  <p:graphicFrame>
        <p:nvGraphicFramePr>
          <p:cNvPr id="30" name="表格 29"/>
          <p:cNvGraphicFramePr/>
          <p:nvPr/>
        </p:nvGraphicFramePr>
        <p:xfrm>
          <a:off x="628650" y="1219200"/>
          <a:ext cx="10934700" cy="3048000"/>
        </p:xfrm>
        <a:graphic>
          <a:graphicData uri="http://schemas.openxmlformats.org/drawingml/2006/table">
            <a:tbl>
              <a:tblPr/>
              <a:tblGrid>
                <a:gridCol w="2381250"/>
                <a:gridCol w="1047750"/>
                <a:gridCol w="7505700"/>
              </a:tblGrid>
              <a:tr h="6096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等级</a:t>
                      </a:r>
                      <a:endParaRPr sz="1950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题数</a:t>
                      </a:r>
                      <a:endParaRPr sz="1950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任务与例题</a:t>
                      </a:r>
                      <a:endParaRPr sz="1950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6096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L1 显性事实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数据库概论的先修课是什么？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6096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L2 隐性事实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10与15学分认定上限相差多少？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L3 可解释推理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GPA 2.9能否达到3.0门槛？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6096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L4 隐性推理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健康服务兴趣下，如何选择微专业？</a:t>
                      </a:r>
                      <a:endParaRPr sz="195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q002 的证据标注"/>
          <p:cNvSpPr>
            <a:spLocks noGrp="1"/>
          </p:cNvSpPr>
          <p:nvPr/>
        </p:nvSpPr>
        <p:spPr>
          <a:xfrm>
            <a:off x="628650" y="4562475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q002 的证据标注</a:t>
            </a:r>
            <a:endParaRPr sz="2175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2" name="gold_answer：数据结构&#10;gold_chunk_ids：yn"/>
          <p:cNvSpPr>
            <a:spLocks noGrp="1"/>
          </p:cNvSpPr>
          <p:nvPr/>
        </p:nvSpPr>
        <p:spPr>
          <a:xfrm>
            <a:off x="628650" y="50482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gold_answer：数据结构</a:t>
            </a:r>
            <a:endParaRPr sz="1800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  <a:p>
            <a: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gold_chunk_ids：ynu006_p000_00088</a:t>
            </a:r>
            <a:endParaRPr sz="1800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3" name="20题，55处证据摘录。标注与核验使用助手辅助，独立人工复核需据实说"/>
          <p:cNvSpPr>
            <a:spLocks noGrp="1"/>
          </p:cNvSpPr>
          <p:nvPr/>
        </p:nvSpPr>
        <p:spPr>
          <a:xfrm>
            <a:off x="628650" y="5905500"/>
            <a:ext cx="10858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20题，55处证据摘录。标注与核验使用助手辅助，独立人工复核需据实说明。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2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47650" y="190500"/>
            <a:ext cx="919162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T1：LangChain基础链路</a:t>
            </a:r>
            <a:endParaRPr sz="2000" b="1"/>
          </a:p>
        </p:txBody>
      </p:sp>
      <p:sp>
        <p:nvSpPr>
          <p:cNvPr id="5" name="Freeform 3"/>
          <p:cNvSpPr>
            <a:spLocks noGrp="1"/>
          </p:cNvSpPr>
          <p:nvPr/>
        </p:nvSpPr>
        <p:spPr>
          <a:xfrm>
            <a:off x="9934317" y="186894"/>
            <a:ext cx="613619" cy="613620"/>
          </a:xfrm>
          <a:custGeom>
            <a:avLst/>
            <a:gdLst/>
            <a:ahLst/>
            <a:cxnLst/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/>
          <p:cNvSpPr>
            <a:spLocks noGrp="1"/>
          </p:cNvSpPr>
          <p:nvPr/>
        </p:nvSpPr>
        <p:spPr>
          <a:xfrm>
            <a:off x="10652398" y="239734"/>
            <a:ext cx="292078" cy="390695"/>
          </a:xfrm>
          <a:custGeom>
            <a:avLst/>
            <a:gdLst/>
            <a:ahLst/>
            <a:cxnLst/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8"/>
          <p:cNvSpPr>
            <a:spLocks noGrp="1"/>
          </p:cNvSpPr>
          <p:nvPr/>
        </p:nvSpPr>
        <p:spPr>
          <a:xfrm>
            <a:off x="10653884" y="671356"/>
            <a:ext cx="70915" cy="74996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4" name="Freeform 9"/>
          <p:cNvSpPr>
            <a:spLocks noGrp="1"/>
          </p:cNvSpPr>
          <p:nvPr/>
        </p:nvSpPr>
        <p:spPr>
          <a:xfrm>
            <a:off x="10737122" y="671356"/>
            <a:ext cx="64519" cy="77033"/>
          </a:xfrm>
          <a:custGeom>
            <a:avLst/>
            <a:gdLst/>
            <a:ahLst/>
            <a:cxnLst/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5" name="Freeform 10"/>
          <p:cNvSpPr>
            <a:spLocks noGrp="1"/>
          </p:cNvSpPr>
          <p:nvPr/>
        </p:nvSpPr>
        <p:spPr>
          <a:xfrm>
            <a:off x="10819892" y="671356"/>
            <a:ext cx="65105" cy="74996"/>
          </a:xfrm>
          <a:custGeom>
            <a:avLst/>
            <a:gdLst/>
            <a:ahLst/>
            <a:cxnLst/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6" name="Freeform 11"/>
          <p:cNvSpPr>
            <a:spLocks noGrp="1"/>
          </p:cNvSpPr>
          <p:nvPr/>
        </p:nvSpPr>
        <p:spPr>
          <a:xfrm>
            <a:off x="10902989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7" name="Freeform 12"/>
          <p:cNvSpPr>
            <a:spLocks noGrp="1"/>
          </p:cNvSpPr>
          <p:nvPr/>
        </p:nvSpPr>
        <p:spPr>
          <a:xfrm>
            <a:off x="10980651" y="671356"/>
            <a:ext cx="75764" cy="74996"/>
          </a:xfrm>
          <a:custGeom>
            <a:avLst/>
            <a:gdLst/>
            <a:ahLst/>
            <a:cxnLst/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8" name="Freeform 13"/>
          <p:cNvSpPr>
            <a:spLocks noGrp="1"/>
          </p:cNvSpPr>
          <p:nvPr/>
        </p:nvSpPr>
        <p:spPr>
          <a:xfrm>
            <a:off x="11069160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" name="Freeform 14"/>
          <p:cNvSpPr>
            <a:spLocks noGrp="1"/>
          </p:cNvSpPr>
          <p:nvPr/>
        </p:nvSpPr>
        <p:spPr>
          <a:xfrm>
            <a:off x="10986115" y="294278"/>
            <a:ext cx="235586" cy="333351"/>
          </a:xfrm>
          <a:custGeom>
            <a:avLst/>
            <a:gdLst/>
            <a:ahLst/>
            <a:cxnLst/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5"/>
          <p:cNvSpPr>
            <a:spLocks noGrp="1"/>
          </p:cNvSpPr>
          <p:nvPr/>
        </p:nvSpPr>
        <p:spPr>
          <a:xfrm>
            <a:off x="11298403" y="315340"/>
            <a:ext cx="240943" cy="281120"/>
          </a:xfrm>
          <a:custGeom>
            <a:avLst/>
            <a:gdLst/>
            <a:ahLst/>
            <a:cxnLst/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7"/>
          <p:cNvSpPr>
            <a:spLocks noGrp="1"/>
          </p:cNvSpPr>
          <p:nvPr/>
        </p:nvSpPr>
        <p:spPr>
          <a:xfrm>
            <a:off x="11634920" y="239734"/>
            <a:ext cx="234125" cy="390939"/>
          </a:xfrm>
          <a:custGeom>
            <a:avLst/>
            <a:gdLst/>
            <a:ahLst/>
            <a:cxnLst/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9"/>
          <p:cNvSpPr>
            <a:spLocks noGrp="1"/>
          </p:cNvSpPr>
          <p:nvPr/>
        </p:nvSpPr>
        <p:spPr>
          <a:xfrm>
            <a:off x="11186176" y="671328"/>
            <a:ext cx="64501" cy="77056"/>
          </a:xfrm>
          <a:custGeom>
            <a:avLst/>
            <a:gdLst/>
            <a:ahLst/>
            <a:cxnLst/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4" name="Freeform 20"/>
          <p:cNvSpPr>
            <a:spLocks noGrp="1"/>
          </p:cNvSpPr>
          <p:nvPr/>
        </p:nvSpPr>
        <p:spPr>
          <a:xfrm>
            <a:off x="11268952" y="671328"/>
            <a:ext cx="65086" cy="75019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5" name="Freeform 21"/>
          <p:cNvSpPr>
            <a:spLocks noGrp="1"/>
          </p:cNvSpPr>
          <p:nvPr/>
        </p:nvSpPr>
        <p:spPr>
          <a:xfrm>
            <a:off x="11351494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6" name="Freeform 22"/>
          <p:cNvSpPr>
            <a:spLocks noGrp="1"/>
          </p:cNvSpPr>
          <p:nvPr/>
        </p:nvSpPr>
        <p:spPr>
          <a:xfrm>
            <a:off x="11380171" y="671328"/>
            <a:ext cx="69936" cy="75019"/>
          </a:xfrm>
          <a:custGeom>
            <a:avLst/>
            <a:gdLst/>
            <a:ahLst/>
            <a:cxnLst/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7" name="Freeform 23"/>
          <p:cNvSpPr>
            <a:spLocks noGrp="1"/>
          </p:cNvSpPr>
          <p:nvPr/>
        </p:nvSpPr>
        <p:spPr>
          <a:xfrm>
            <a:off x="11463486" y="671328"/>
            <a:ext cx="60611" cy="75019"/>
          </a:xfrm>
          <a:custGeom>
            <a:avLst/>
            <a:gdLst/>
            <a:ahLst/>
            <a:cxnLst/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8" name="Freeform 24"/>
          <p:cNvSpPr>
            <a:spLocks noGrp="1"/>
          </p:cNvSpPr>
          <p:nvPr/>
        </p:nvSpPr>
        <p:spPr>
          <a:xfrm>
            <a:off x="11540452" y="671328"/>
            <a:ext cx="66867" cy="75019"/>
          </a:xfrm>
          <a:custGeom>
            <a:avLst/>
            <a:gdLst/>
            <a:ahLst/>
            <a:cxnLst/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9" name="Freeform 25"/>
          <p:cNvSpPr>
            <a:spLocks noGrp="1"/>
          </p:cNvSpPr>
          <p:nvPr/>
        </p:nvSpPr>
        <p:spPr>
          <a:xfrm>
            <a:off x="11619456" y="669290"/>
            <a:ext cx="65578" cy="79094"/>
          </a:xfrm>
          <a:custGeom>
            <a:avLst/>
            <a:gdLst/>
            <a:ahLst/>
            <a:cxnLst/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>
            <a:srgbClr val="1D2B5B"/>
          </a:solidFill>
        </p:spPr>
      </p:sp>
      <p:sp>
        <p:nvSpPr>
          <p:cNvPr id="20" name="Freeform 26"/>
          <p:cNvSpPr>
            <a:spLocks noGrp="1"/>
          </p:cNvSpPr>
          <p:nvPr/>
        </p:nvSpPr>
        <p:spPr>
          <a:xfrm>
            <a:off x="11699139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1" name="Freeform 27"/>
          <p:cNvSpPr>
            <a:spLocks noGrp="1"/>
          </p:cNvSpPr>
          <p:nvPr/>
        </p:nvSpPr>
        <p:spPr>
          <a:xfrm>
            <a:off x="11727278" y="671328"/>
            <a:ext cx="64899" cy="75019"/>
          </a:xfrm>
          <a:custGeom>
            <a:avLst/>
            <a:gdLst/>
            <a:ahLst/>
            <a:cxnLst/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2" name="Freeform 28"/>
          <p:cNvSpPr>
            <a:spLocks noGrp="1"/>
          </p:cNvSpPr>
          <p:nvPr/>
        </p:nvSpPr>
        <p:spPr>
          <a:xfrm>
            <a:off x="11798105" y="671328"/>
            <a:ext cx="70920" cy="75019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9" name="05 / 10"/>
          <p:cNvSpPr>
            <a:spLocks noGrp="1"/>
          </p:cNvSpPr>
          <p:nvPr/>
        </p:nvSpPr>
        <p:spPr>
          <a:xfrm>
            <a:off x="11001375" y="64198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05 / 10</a:t>
            </a:r>
            <a:endParaRPr sz="1200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  <p:graphicFrame>
        <p:nvGraphicFramePr>
          <p:cNvPr id="30" name="表格 29"/>
          <p:cNvGraphicFramePr/>
          <p:nvPr/>
        </p:nvGraphicFramePr>
        <p:xfrm>
          <a:off x="628650" y="1200150"/>
          <a:ext cx="10934700" cy="4191000"/>
        </p:xfrm>
        <a:graphic>
          <a:graphicData uri="http://schemas.openxmlformats.org/drawingml/2006/table">
            <a:tbl>
              <a:tblPr/>
              <a:tblGrid>
                <a:gridCol w="1809750"/>
                <a:gridCol w="4933950"/>
                <a:gridCol w="4191000"/>
              </a:tblGrid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环节</a:t>
                      </a:r>
                      <a:endParaRPr sz="1875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实现</a:t>
                      </a:r>
                      <a:endParaRPr sz="1875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关键配置</a:t>
                      </a:r>
                      <a:endParaRPr sz="1875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 文档加载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TextLoader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23篇Markdown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2 文本切分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RecursiveCharacterTextSplitter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650字符，重叠120字符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3 向量化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字符TF-IDF与LSA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64维，共202个文本块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4 建索引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LangChain FAISS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归一化向量，IndexFlatL2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 检索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向量相似度检索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top-k = 5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6 拼接Context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LangChain LCEL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正文、版本与来源编号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7 LLM生成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ChatOllama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qwen3:4b-instruct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31" name="保留流式输出与引用。未加入混合检索、重排或额外路由。&#10;TF-IDF/"/>
          <p:cNvSpPr>
            <a:spLocks noGrp="1"/>
          </p:cNvSpPr>
          <p:nvPr/>
        </p:nvSpPr>
        <p:spPr>
          <a:xfrm>
            <a:off x="628650" y="5772150"/>
            <a:ext cx="10858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保留流式输出与引用。未加入混合检索、重排或额外路由。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TF-IDF/LSA是传统向量化，未使用BGE等神经Embedding，也未微调千问。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2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47650" y="190500"/>
            <a:ext cx="919162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T1：同模型无检索对照</a:t>
            </a:r>
            <a:endParaRPr sz="2000" b="1"/>
          </a:p>
        </p:txBody>
      </p:sp>
      <p:sp>
        <p:nvSpPr>
          <p:cNvPr id="5" name="Freeform 3"/>
          <p:cNvSpPr>
            <a:spLocks noGrp="1"/>
          </p:cNvSpPr>
          <p:nvPr/>
        </p:nvSpPr>
        <p:spPr>
          <a:xfrm>
            <a:off x="9934317" y="186894"/>
            <a:ext cx="613619" cy="613620"/>
          </a:xfrm>
          <a:custGeom>
            <a:avLst/>
            <a:gdLst/>
            <a:ahLst/>
            <a:cxnLst/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/>
          <p:cNvSpPr>
            <a:spLocks noGrp="1"/>
          </p:cNvSpPr>
          <p:nvPr/>
        </p:nvSpPr>
        <p:spPr>
          <a:xfrm>
            <a:off x="10652398" y="239734"/>
            <a:ext cx="292078" cy="390695"/>
          </a:xfrm>
          <a:custGeom>
            <a:avLst/>
            <a:gdLst/>
            <a:ahLst/>
            <a:cxnLst/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8"/>
          <p:cNvSpPr>
            <a:spLocks noGrp="1"/>
          </p:cNvSpPr>
          <p:nvPr/>
        </p:nvSpPr>
        <p:spPr>
          <a:xfrm>
            <a:off x="10653884" y="671356"/>
            <a:ext cx="70915" cy="74996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4" name="Freeform 9"/>
          <p:cNvSpPr>
            <a:spLocks noGrp="1"/>
          </p:cNvSpPr>
          <p:nvPr/>
        </p:nvSpPr>
        <p:spPr>
          <a:xfrm>
            <a:off x="10737122" y="671356"/>
            <a:ext cx="64519" cy="77033"/>
          </a:xfrm>
          <a:custGeom>
            <a:avLst/>
            <a:gdLst/>
            <a:ahLst/>
            <a:cxnLst/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5" name="Freeform 10"/>
          <p:cNvSpPr>
            <a:spLocks noGrp="1"/>
          </p:cNvSpPr>
          <p:nvPr/>
        </p:nvSpPr>
        <p:spPr>
          <a:xfrm>
            <a:off x="10819892" y="671356"/>
            <a:ext cx="65105" cy="74996"/>
          </a:xfrm>
          <a:custGeom>
            <a:avLst/>
            <a:gdLst/>
            <a:ahLst/>
            <a:cxnLst/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6" name="Freeform 11"/>
          <p:cNvSpPr>
            <a:spLocks noGrp="1"/>
          </p:cNvSpPr>
          <p:nvPr/>
        </p:nvSpPr>
        <p:spPr>
          <a:xfrm>
            <a:off x="10902989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7" name="Freeform 12"/>
          <p:cNvSpPr>
            <a:spLocks noGrp="1"/>
          </p:cNvSpPr>
          <p:nvPr/>
        </p:nvSpPr>
        <p:spPr>
          <a:xfrm>
            <a:off x="10980651" y="671356"/>
            <a:ext cx="75764" cy="74996"/>
          </a:xfrm>
          <a:custGeom>
            <a:avLst/>
            <a:gdLst/>
            <a:ahLst/>
            <a:cxnLst/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8" name="Freeform 13"/>
          <p:cNvSpPr>
            <a:spLocks noGrp="1"/>
          </p:cNvSpPr>
          <p:nvPr/>
        </p:nvSpPr>
        <p:spPr>
          <a:xfrm>
            <a:off x="11069160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" name="Freeform 14"/>
          <p:cNvSpPr>
            <a:spLocks noGrp="1"/>
          </p:cNvSpPr>
          <p:nvPr/>
        </p:nvSpPr>
        <p:spPr>
          <a:xfrm>
            <a:off x="10986115" y="294278"/>
            <a:ext cx="235586" cy="333351"/>
          </a:xfrm>
          <a:custGeom>
            <a:avLst/>
            <a:gdLst/>
            <a:ahLst/>
            <a:cxnLst/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5"/>
          <p:cNvSpPr>
            <a:spLocks noGrp="1"/>
          </p:cNvSpPr>
          <p:nvPr/>
        </p:nvSpPr>
        <p:spPr>
          <a:xfrm>
            <a:off x="11298403" y="315340"/>
            <a:ext cx="240943" cy="281120"/>
          </a:xfrm>
          <a:custGeom>
            <a:avLst/>
            <a:gdLst/>
            <a:ahLst/>
            <a:cxnLst/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7"/>
          <p:cNvSpPr>
            <a:spLocks noGrp="1"/>
          </p:cNvSpPr>
          <p:nvPr/>
        </p:nvSpPr>
        <p:spPr>
          <a:xfrm>
            <a:off x="11634920" y="239734"/>
            <a:ext cx="234125" cy="390939"/>
          </a:xfrm>
          <a:custGeom>
            <a:avLst/>
            <a:gdLst/>
            <a:ahLst/>
            <a:cxnLst/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9"/>
          <p:cNvSpPr>
            <a:spLocks noGrp="1"/>
          </p:cNvSpPr>
          <p:nvPr/>
        </p:nvSpPr>
        <p:spPr>
          <a:xfrm>
            <a:off x="11186176" y="671328"/>
            <a:ext cx="64501" cy="77056"/>
          </a:xfrm>
          <a:custGeom>
            <a:avLst/>
            <a:gdLst/>
            <a:ahLst/>
            <a:cxnLst/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4" name="Freeform 20"/>
          <p:cNvSpPr>
            <a:spLocks noGrp="1"/>
          </p:cNvSpPr>
          <p:nvPr/>
        </p:nvSpPr>
        <p:spPr>
          <a:xfrm>
            <a:off x="11268952" y="671328"/>
            <a:ext cx="65086" cy="75019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5" name="Freeform 21"/>
          <p:cNvSpPr>
            <a:spLocks noGrp="1"/>
          </p:cNvSpPr>
          <p:nvPr/>
        </p:nvSpPr>
        <p:spPr>
          <a:xfrm>
            <a:off x="11351494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6" name="Freeform 22"/>
          <p:cNvSpPr>
            <a:spLocks noGrp="1"/>
          </p:cNvSpPr>
          <p:nvPr/>
        </p:nvSpPr>
        <p:spPr>
          <a:xfrm>
            <a:off x="11380171" y="671328"/>
            <a:ext cx="69936" cy="75019"/>
          </a:xfrm>
          <a:custGeom>
            <a:avLst/>
            <a:gdLst/>
            <a:ahLst/>
            <a:cxnLst/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7" name="Freeform 23"/>
          <p:cNvSpPr>
            <a:spLocks noGrp="1"/>
          </p:cNvSpPr>
          <p:nvPr/>
        </p:nvSpPr>
        <p:spPr>
          <a:xfrm>
            <a:off x="11463486" y="671328"/>
            <a:ext cx="60611" cy="75019"/>
          </a:xfrm>
          <a:custGeom>
            <a:avLst/>
            <a:gdLst/>
            <a:ahLst/>
            <a:cxnLst/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8" name="Freeform 24"/>
          <p:cNvSpPr>
            <a:spLocks noGrp="1"/>
          </p:cNvSpPr>
          <p:nvPr/>
        </p:nvSpPr>
        <p:spPr>
          <a:xfrm>
            <a:off x="11540452" y="671328"/>
            <a:ext cx="66867" cy="75019"/>
          </a:xfrm>
          <a:custGeom>
            <a:avLst/>
            <a:gdLst/>
            <a:ahLst/>
            <a:cxnLst/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9" name="Freeform 25"/>
          <p:cNvSpPr>
            <a:spLocks noGrp="1"/>
          </p:cNvSpPr>
          <p:nvPr/>
        </p:nvSpPr>
        <p:spPr>
          <a:xfrm>
            <a:off x="11619456" y="669290"/>
            <a:ext cx="65578" cy="79094"/>
          </a:xfrm>
          <a:custGeom>
            <a:avLst/>
            <a:gdLst/>
            <a:ahLst/>
            <a:cxnLst/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>
            <a:srgbClr val="1D2B5B"/>
          </a:solidFill>
        </p:spPr>
      </p:sp>
      <p:sp>
        <p:nvSpPr>
          <p:cNvPr id="20" name="Freeform 26"/>
          <p:cNvSpPr>
            <a:spLocks noGrp="1"/>
          </p:cNvSpPr>
          <p:nvPr/>
        </p:nvSpPr>
        <p:spPr>
          <a:xfrm>
            <a:off x="11699139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1" name="Freeform 27"/>
          <p:cNvSpPr>
            <a:spLocks noGrp="1"/>
          </p:cNvSpPr>
          <p:nvPr/>
        </p:nvSpPr>
        <p:spPr>
          <a:xfrm>
            <a:off x="11727278" y="671328"/>
            <a:ext cx="64899" cy="75019"/>
          </a:xfrm>
          <a:custGeom>
            <a:avLst/>
            <a:gdLst/>
            <a:ahLst/>
            <a:cxnLst/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2" name="Freeform 28"/>
          <p:cNvSpPr>
            <a:spLocks noGrp="1"/>
          </p:cNvSpPr>
          <p:nvPr/>
        </p:nvSpPr>
        <p:spPr>
          <a:xfrm>
            <a:off x="11798105" y="671328"/>
            <a:ext cx="70920" cy="75019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9" name="06 / 10"/>
          <p:cNvSpPr>
            <a:spLocks noGrp="1"/>
          </p:cNvSpPr>
          <p:nvPr/>
        </p:nvSpPr>
        <p:spPr>
          <a:xfrm>
            <a:off x="11001375" y="64198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06 / 10</a:t>
            </a:r>
            <a:endParaRPr sz="1200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  <p:graphicFrame>
        <p:nvGraphicFramePr>
          <p:cNvPr id="30" name="表格 29"/>
          <p:cNvGraphicFramePr/>
          <p:nvPr/>
        </p:nvGraphicFramePr>
        <p:xfrm>
          <a:off x="628650" y="1285875"/>
          <a:ext cx="10934700" cy="3143250"/>
        </p:xfrm>
        <a:graphic>
          <a:graphicData uri="http://schemas.openxmlformats.org/drawingml/2006/table">
            <a:tbl>
              <a:tblPr/>
              <a:tblGrid>
                <a:gridCol w="2143125"/>
                <a:gridCol w="4391025"/>
                <a:gridCol w="4400550"/>
              </a:tblGrid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维度</a:t>
                      </a:r>
                      <a:endParaRPr sz="1800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基础RAG</a:t>
                      </a:r>
                      <a:endParaRPr sz="1800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无检索LLM</a:t>
                      </a:r>
                      <a:endParaRPr sz="1800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问题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同一份20题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同一份20题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生成模型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qwen3:4b-instruct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qwen3:4b-instruct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模型输入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问题与top-5 Context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仅问题，无检索工具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调用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20次独立对话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20次独立对话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温度与种子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temperature 0.2，seed 42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temperature 0.2，seed 42</a:t>
                      </a:r>
                      <a:endParaRPr sz="1800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31" name="共40次真实调用，不向模型提供gold答案或评分标准"/>
          <p:cNvSpPr>
            <a:spLocks noGrp="1"/>
          </p:cNvSpPr>
          <p:nvPr/>
        </p:nvSpPr>
        <p:spPr>
          <a:xfrm>
            <a:off x="628650" y="47625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共40次真实调用，不向模型提供gold答案或评分标准</a:t>
            </a:r>
            <a:endParaRPr sz="2100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2" name="生成上限2048 tokens；两组每题各运行一次"/>
          <p:cNvSpPr>
            <a:spLocks noGrp="1"/>
          </p:cNvSpPr>
          <p:nvPr/>
        </p:nvSpPr>
        <p:spPr>
          <a:xfrm>
            <a:off x="628650" y="5286375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生成上限2048 tokens；两组每题各运行一次</a:t>
            </a:r>
            <a:endParaRPr sz="1950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3" name="无检索提示移除了资料专用约束和引用要求，存在提示适配差异。&#10;单次小样"/>
          <p:cNvSpPr>
            <a:spLocks noGrp="1"/>
          </p:cNvSpPr>
          <p:nvPr/>
        </p:nvSpPr>
        <p:spPr>
          <a:xfrm>
            <a:off x="628650" y="5848350"/>
            <a:ext cx="10858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无检索提示移除了资料专用约束和引用要求，存在提示适配差异。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单次小样本结果不作为严格单变量因果证明。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2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47650" y="190500"/>
            <a:ext cx="919162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T1：总体与分层结果</a:t>
            </a:r>
            <a:endParaRPr sz="2000" b="1"/>
          </a:p>
        </p:txBody>
      </p:sp>
      <p:sp>
        <p:nvSpPr>
          <p:cNvPr id="5" name="Freeform 3"/>
          <p:cNvSpPr>
            <a:spLocks noGrp="1"/>
          </p:cNvSpPr>
          <p:nvPr/>
        </p:nvSpPr>
        <p:spPr>
          <a:xfrm>
            <a:off x="9934317" y="186894"/>
            <a:ext cx="613619" cy="613620"/>
          </a:xfrm>
          <a:custGeom>
            <a:avLst/>
            <a:gdLst/>
            <a:ahLst/>
            <a:cxnLst/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/>
          <p:cNvSpPr>
            <a:spLocks noGrp="1"/>
          </p:cNvSpPr>
          <p:nvPr/>
        </p:nvSpPr>
        <p:spPr>
          <a:xfrm>
            <a:off x="10652398" y="239734"/>
            <a:ext cx="292078" cy="390695"/>
          </a:xfrm>
          <a:custGeom>
            <a:avLst/>
            <a:gdLst/>
            <a:ahLst/>
            <a:cxnLst/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8"/>
          <p:cNvSpPr>
            <a:spLocks noGrp="1"/>
          </p:cNvSpPr>
          <p:nvPr/>
        </p:nvSpPr>
        <p:spPr>
          <a:xfrm>
            <a:off x="10653884" y="671356"/>
            <a:ext cx="70915" cy="74996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4" name="Freeform 9"/>
          <p:cNvSpPr>
            <a:spLocks noGrp="1"/>
          </p:cNvSpPr>
          <p:nvPr/>
        </p:nvSpPr>
        <p:spPr>
          <a:xfrm>
            <a:off x="10737122" y="671356"/>
            <a:ext cx="64519" cy="77033"/>
          </a:xfrm>
          <a:custGeom>
            <a:avLst/>
            <a:gdLst/>
            <a:ahLst/>
            <a:cxnLst/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5" name="Freeform 10"/>
          <p:cNvSpPr>
            <a:spLocks noGrp="1"/>
          </p:cNvSpPr>
          <p:nvPr/>
        </p:nvSpPr>
        <p:spPr>
          <a:xfrm>
            <a:off x="10819892" y="671356"/>
            <a:ext cx="65105" cy="74996"/>
          </a:xfrm>
          <a:custGeom>
            <a:avLst/>
            <a:gdLst/>
            <a:ahLst/>
            <a:cxnLst/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6" name="Freeform 11"/>
          <p:cNvSpPr>
            <a:spLocks noGrp="1"/>
          </p:cNvSpPr>
          <p:nvPr/>
        </p:nvSpPr>
        <p:spPr>
          <a:xfrm>
            <a:off x="10902989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7" name="Freeform 12"/>
          <p:cNvSpPr>
            <a:spLocks noGrp="1"/>
          </p:cNvSpPr>
          <p:nvPr/>
        </p:nvSpPr>
        <p:spPr>
          <a:xfrm>
            <a:off x="10980651" y="671356"/>
            <a:ext cx="75764" cy="74996"/>
          </a:xfrm>
          <a:custGeom>
            <a:avLst/>
            <a:gdLst/>
            <a:ahLst/>
            <a:cxnLst/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8" name="Freeform 13"/>
          <p:cNvSpPr>
            <a:spLocks noGrp="1"/>
          </p:cNvSpPr>
          <p:nvPr/>
        </p:nvSpPr>
        <p:spPr>
          <a:xfrm>
            <a:off x="11069160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" name="Freeform 14"/>
          <p:cNvSpPr>
            <a:spLocks noGrp="1"/>
          </p:cNvSpPr>
          <p:nvPr/>
        </p:nvSpPr>
        <p:spPr>
          <a:xfrm>
            <a:off x="10986115" y="294278"/>
            <a:ext cx="235586" cy="333351"/>
          </a:xfrm>
          <a:custGeom>
            <a:avLst/>
            <a:gdLst/>
            <a:ahLst/>
            <a:cxnLst/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5"/>
          <p:cNvSpPr>
            <a:spLocks noGrp="1"/>
          </p:cNvSpPr>
          <p:nvPr/>
        </p:nvSpPr>
        <p:spPr>
          <a:xfrm>
            <a:off x="11298403" y="315340"/>
            <a:ext cx="240943" cy="281120"/>
          </a:xfrm>
          <a:custGeom>
            <a:avLst/>
            <a:gdLst/>
            <a:ahLst/>
            <a:cxnLst/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7"/>
          <p:cNvSpPr>
            <a:spLocks noGrp="1"/>
          </p:cNvSpPr>
          <p:nvPr/>
        </p:nvSpPr>
        <p:spPr>
          <a:xfrm>
            <a:off x="11634920" y="239734"/>
            <a:ext cx="234125" cy="390939"/>
          </a:xfrm>
          <a:custGeom>
            <a:avLst/>
            <a:gdLst/>
            <a:ahLst/>
            <a:cxnLst/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9"/>
          <p:cNvSpPr>
            <a:spLocks noGrp="1"/>
          </p:cNvSpPr>
          <p:nvPr/>
        </p:nvSpPr>
        <p:spPr>
          <a:xfrm>
            <a:off x="11186176" y="671328"/>
            <a:ext cx="64501" cy="77056"/>
          </a:xfrm>
          <a:custGeom>
            <a:avLst/>
            <a:gdLst/>
            <a:ahLst/>
            <a:cxnLst/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4" name="Freeform 20"/>
          <p:cNvSpPr>
            <a:spLocks noGrp="1"/>
          </p:cNvSpPr>
          <p:nvPr/>
        </p:nvSpPr>
        <p:spPr>
          <a:xfrm>
            <a:off x="11268952" y="671328"/>
            <a:ext cx="65086" cy="75019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5" name="Freeform 21"/>
          <p:cNvSpPr>
            <a:spLocks noGrp="1"/>
          </p:cNvSpPr>
          <p:nvPr/>
        </p:nvSpPr>
        <p:spPr>
          <a:xfrm>
            <a:off x="11351494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6" name="Freeform 22"/>
          <p:cNvSpPr>
            <a:spLocks noGrp="1"/>
          </p:cNvSpPr>
          <p:nvPr/>
        </p:nvSpPr>
        <p:spPr>
          <a:xfrm>
            <a:off x="11380171" y="671328"/>
            <a:ext cx="69936" cy="75019"/>
          </a:xfrm>
          <a:custGeom>
            <a:avLst/>
            <a:gdLst/>
            <a:ahLst/>
            <a:cxnLst/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7" name="Freeform 23"/>
          <p:cNvSpPr>
            <a:spLocks noGrp="1"/>
          </p:cNvSpPr>
          <p:nvPr/>
        </p:nvSpPr>
        <p:spPr>
          <a:xfrm>
            <a:off x="11463486" y="671328"/>
            <a:ext cx="60611" cy="75019"/>
          </a:xfrm>
          <a:custGeom>
            <a:avLst/>
            <a:gdLst/>
            <a:ahLst/>
            <a:cxnLst/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8" name="Freeform 24"/>
          <p:cNvSpPr>
            <a:spLocks noGrp="1"/>
          </p:cNvSpPr>
          <p:nvPr/>
        </p:nvSpPr>
        <p:spPr>
          <a:xfrm>
            <a:off x="11540452" y="671328"/>
            <a:ext cx="66867" cy="75019"/>
          </a:xfrm>
          <a:custGeom>
            <a:avLst/>
            <a:gdLst/>
            <a:ahLst/>
            <a:cxnLst/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9" name="Freeform 25"/>
          <p:cNvSpPr>
            <a:spLocks noGrp="1"/>
          </p:cNvSpPr>
          <p:nvPr/>
        </p:nvSpPr>
        <p:spPr>
          <a:xfrm>
            <a:off x="11619456" y="669290"/>
            <a:ext cx="65578" cy="79094"/>
          </a:xfrm>
          <a:custGeom>
            <a:avLst/>
            <a:gdLst/>
            <a:ahLst/>
            <a:cxnLst/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>
            <a:srgbClr val="1D2B5B"/>
          </a:solidFill>
        </p:spPr>
      </p:sp>
      <p:sp>
        <p:nvSpPr>
          <p:cNvPr id="20" name="Freeform 26"/>
          <p:cNvSpPr>
            <a:spLocks noGrp="1"/>
          </p:cNvSpPr>
          <p:nvPr/>
        </p:nvSpPr>
        <p:spPr>
          <a:xfrm>
            <a:off x="11699139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1" name="Freeform 27"/>
          <p:cNvSpPr>
            <a:spLocks noGrp="1"/>
          </p:cNvSpPr>
          <p:nvPr/>
        </p:nvSpPr>
        <p:spPr>
          <a:xfrm>
            <a:off x="11727278" y="671328"/>
            <a:ext cx="64899" cy="75019"/>
          </a:xfrm>
          <a:custGeom>
            <a:avLst/>
            <a:gdLst/>
            <a:ahLst/>
            <a:cxnLst/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2" name="Freeform 28"/>
          <p:cNvSpPr>
            <a:spLocks noGrp="1"/>
          </p:cNvSpPr>
          <p:nvPr/>
        </p:nvSpPr>
        <p:spPr>
          <a:xfrm>
            <a:off x="11798105" y="671328"/>
            <a:ext cx="70920" cy="75019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9" name="07 / 10"/>
          <p:cNvSpPr>
            <a:spLocks noGrp="1"/>
          </p:cNvSpPr>
          <p:nvPr/>
        </p:nvSpPr>
        <p:spPr>
          <a:xfrm>
            <a:off x="11001375" y="64198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07 / 10</a:t>
            </a:r>
            <a:endParaRPr sz="1200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0" name="总体归一化得分"/>
          <p:cNvSpPr>
            <a:spLocks noGrp="1"/>
          </p:cNvSpPr>
          <p:nvPr/>
        </p:nvSpPr>
        <p:spPr>
          <a:xfrm>
            <a:off x="628650" y="1076325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总体归一化得分</a:t>
            </a:r>
            <a:endParaRPr sz="2175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1" name="RAG 73.0%     无检索 25.5%"/>
          <p:cNvSpPr>
            <a:spLocks noGrp="1"/>
          </p:cNvSpPr>
          <p:nvPr/>
        </p:nvSpPr>
        <p:spPr>
          <a:xfrm>
            <a:off x="628650" y="155257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30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RAG 73.0%     无检索 25.5%</a:t>
            </a:r>
            <a:endParaRPr sz="3000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graphicFrame>
        <p:nvGraphicFramePr>
          <p:cNvPr id="32" name="Chart"/>
          <p:cNvGraphicFramePr/>
          <p:nvPr/>
        </p:nvGraphicFramePr>
        <p:xfrm>
          <a:off x="552450" y="2324100"/>
          <a:ext cx="706755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3" name="Recall@5　90.0%&#10;MRR@5　0.685&#10;全部gold召"/>
          <p:cNvSpPr>
            <a:spLocks noGrp="1"/>
          </p:cNvSpPr>
          <p:nvPr/>
        </p:nvSpPr>
        <p:spPr>
          <a:xfrm>
            <a:off x="8029575" y="2514600"/>
            <a:ext cx="3429000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Recall@5　90.0%</a:t>
            </a:r>
            <a:endParaRPr sz="2025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  <a:p>
            <a: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MRR@5　0.685</a:t>
            </a:r>
            <a:endParaRPr sz="2025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  <a:p>
            <a: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全部gold召回　13/20题</a:t>
            </a:r>
            <a:endParaRPr sz="2025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4" name="L4 两组均为52.0%&#10;没有观察到得分改善"/>
          <p:cNvSpPr>
            <a:spLocks noGrp="1"/>
          </p:cNvSpPr>
          <p:nvPr/>
        </p:nvSpPr>
        <p:spPr>
          <a:xfrm>
            <a:off x="8029575" y="4114800"/>
            <a:ext cx="3429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L4 两组均为52.0%</a:t>
            </a:r>
            <a:endParaRPr sz="2175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  <a:p>
            <a: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没有观察到得分改善</a:t>
            </a:r>
            <a:endParaRPr sz="2175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5" name="助手逐题核对后的评分，非EM或独立人工审核的准确率。&#10;L1—L3每题"/>
          <p:cNvSpPr>
            <a:spLocks noGrp="1"/>
          </p:cNvSpPr>
          <p:nvPr/>
        </p:nvSpPr>
        <p:spPr>
          <a:xfrm>
            <a:off x="628650" y="5810250"/>
            <a:ext cx="10858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助手逐题核对后的评分，非EM或独立人工审核的准确率。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L1—L3每题0—2分，L4每题0—5分；每题归一化后取平均。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2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47650" y="190500"/>
            <a:ext cx="919162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T1：两个成功案例</a:t>
            </a:r>
            <a:endParaRPr sz="2000" b="1"/>
          </a:p>
        </p:txBody>
      </p:sp>
      <p:sp>
        <p:nvSpPr>
          <p:cNvPr id="5" name="Freeform 3"/>
          <p:cNvSpPr>
            <a:spLocks noGrp="1"/>
          </p:cNvSpPr>
          <p:nvPr/>
        </p:nvSpPr>
        <p:spPr>
          <a:xfrm>
            <a:off x="9934317" y="186894"/>
            <a:ext cx="613619" cy="613620"/>
          </a:xfrm>
          <a:custGeom>
            <a:avLst/>
            <a:gdLst/>
            <a:ahLst/>
            <a:cxnLst/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/>
          <p:cNvSpPr>
            <a:spLocks noGrp="1"/>
          </p:cNvSpPr>
          <p:nvPr/>
        </p:nvSpPr>
        <p:spPr>
          <a:xfrm>
            <a:off x="10652398" y="239734"/>
            <a:ext cx="292078" cy="390695"/>
          </a:xfrm>
          <a:custGeom>
            <a:avLst/>
            <a:gdLst/>
            <a:ahLst/>
            <a:cxnLst/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8"/>
          <p:cNvSpPr>
            <a:spLocks noGrp="1"/>
          </p:cNvSpPr>
          <p:nvPr/>
        </p:nvSpPr>
        <p:spPr>
          <a:xfrm>
            <a:off x="10653884" y="671356"/>
            <a:ext cx="70915" cy="74996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4" name="Freeform 9"/>
          <p:cNvSpPr>
            <a:spLocks noGrp="1"/>
          </p:cNvSpPr>
          <p:nvPr/>
        </p:nvSpPr>
        <p:spPr>
          <a:xfrm>
            <a:off x="10737122" y="671356"/>
            <a:ext cx="64519" cy="77033"/>
          </a:xfrm>
          <a:custGeom>
            <a:avLst/>
            <a:gdLst/>
            <a:ahLst/>
            <a:cxnLst/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5" name="Freeform 10"/>
          <p:cNvSpPr>
            <a:spLocks noGrp="1"/>
          </p:cNvSpPr>
          <p:nvPr/>
        </p:nvSpPr>
        <p:spPr>
          <a:xfrm>
            <a:off x="10819892" y="671356"/>
            <a:ext cx="65105" cy="74996"/>
          </a:xfrm>
          <a:custGeom>
            <a:avLst/>
            <a:gdLst/>
            <a:ahLst/>
            <a:cxnLst/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6" name="Freeform 11"/>
          <p:cNvSpPr>
            <a:spLocks noGrp="1"/>
          </p:cNvSpPr>
          <p:nvPr/>
        </p:nvSpPr>
        <p:spPr>
          <a:xfrm>
            <a:off x="10902989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7" name="Freeform 12"/>
          <p:cNvSpPr>
            <a:spLocks noGrp="1"/>
          </p:cNvSpPr>
          <p:nvPr/>
        </p:nvSpPr>
        <p:spPr>
          <a:xfrm>
            <a:off x="10980651" y="671356"/>
            <a:ext cx="75764" cy="74996"/>
          </a:xfrm>
          <a:custGeom>
            <a:avLst/>
            <a:gdLst/>
            <a:ahLst/>
            <a:cxnLst/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8" name="Freeform 13"/>
          <p:cNvSpPr>
            <a:spLocks noGrp="1"/>
          </p:cNvSpPr>
          <p:nvPr/>
        </p:nvSpPr>
        <p:spPr>
          <a:xfrm>
            <a:off x="11069160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" name="Freeform 14"/>
          <p:cNvSpPr>
            <a:spLocks noGrp="1"/>
          </p:cNvSpPr>
          <p:nvPr/>
        </p:nvSpPr>
        <p:spPr>
          <a:xfrm>
            <a:off x="10986115" y="294278"/>
            <a:ext cx="235586" cy="333351"/>
          </a:xfrm>
          <a:custGeom>
            <a:avLst/>
            <a:gdLst/>
            <a:ahLst/>
            <a:cxnLst/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5"/>
          <p:cNvSpPr>
            <a:spLocks noGrp="1"/>
          </p:cNvSpPr>
          <p:nvPr/>
        </p:nvSpPr>
        <p:spPr>
          <a:xfrm>
            <a:off x="11298403" y="315340"/>
            <a:ext cx="240943" cy="281120"/>
          </a:xfrm>
          <a:custGeom>
            <a:avLst/>
            <a:gdLst/>
            <a:ahLst/>
            <a:cxnLst/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7"/>
          <p:cNvSpPr>
            <a:spLocks noGrp="1"/>
          </p:cNvSpPr>
          <p:nvPr/>
        </p:nvSpPr>
        <p:spPr>
          <a:xfrm>
            <a:off x="11634920" y="239734"/>
            <a:ext cx="234125" cy="390939"/>
          </a:xfrm>
          <a:custGeom>
            <a:avLst/>
            <a:gdLst/>
            <a:ahLst/>
            <a:cxnLst/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9"/>
          <p:cNvSpPr>
            <a:spLocks noGrp="1"/>
          </p:cNvSpPr>
          <p:nvPr/>
        </p:nvSpPr>
        <p:spPr>
          <a:xfrm>
            <a:off x="11186176" y="671328"/>
            <a:ext cx="64501" cy="77056"/>
          </a:xfrm>
          <a:custGeom>
            <a:avLst/>
            <a:gdLst/>
            <a:ahLst/>
            <a:cxnLst/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4" name="Freeform 20"/>
          <p:cNvSpPr>
            <a:spLocks noGrp="1"/>
          </p:cNvSpPr>
          <p:nvPr/>
        </p:nvSpPr>
        <p:spPr>
          <a:xfrm>
            <a:off x="11268952" y="671328"/>
            <a:ext cx="65086" cy="75019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5" name="Freeform 21"/>
          <p:cNvSpPr>
            <a:spLocks noGrp="1"/>
          </p:cNvSpPr>
          <p:nvPr/>
        </p:nvSpPr>
        <p:spPr>
          <a:xfrm>
            <a:off x="11351494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6" name="Freeform 22"/>
          <p:cNvSpPr>
            <a:spLocks noGrp="1"/>
          </p:cNvSpPr>
          <p:nvPr/>
        </p:nvSpPr>
        <p:spPr>
          <a:xfrm>
            <a:off x="11380171" y="671328"/>
            <a:ext cx="69936" cy="75019"/>
          </a:xfrm>
          <a:custGeom>
            <a:avLst/>
            <a:gdLst/>
            <a:ahLst/>
            <a:cxnLst/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7" name="Freeform 23"/>
          <p:cNvSpPr>
            <a:spLocks noGrp="1"/>
          </p:cNvSpPr>
          <p:nvPr/>
        </p:nvSpPr>
        <p:spPr>
          <a:xfrm>
            <a:off x="11463486" y="671328"/>
            <a:ext cx="60611" cy="75019"/>
          </a:xfrm>
          <a:custGeom>
            <a:avLst/>
            <a:gdLst/>
            <a:ahLst/>
            <a:cxnLst/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8" name="Freeform 24"/>
          <p:cNvSpPr>
            <a:spLocks noGrp="1"/>
          </p:cNvSpPr>
          <p:nvPr/>
        </p:nvSpPr>
        <p:spPr>
          <a:xfrm>
            <a:off x="11540452" y="671328"/>
            <a:ext cx="66867" cy="75019"/>
          </a:xfrm>
          <a:custGeom>
            <a:avLst/>
            <a:gdLst/>
            <a:ahLst/>
            <a:cxnLst/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9" name="Freeform 25"/>
          <p:cNvSpPr>
            <a:spLocks noGrp="1"/>
          </p:cNvSpPr>
          <p:nvPr/>
        </p:nvSpPr>
        <p:spPr>
          <a:xfrm>
            <a:off x="11619456" y="669290"/>
            <a:ext cx="65578" cy="79094"/>
          </a:xfrm>
          <a:custGeom>
            <a:avLst/>
            <a:gdLst/>
            <a:ahLst/>
            <a:cxnLst/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>
            <a:srgbClr val="1D2B5B"/>
          </a:solidFill>
        </p:spPr>
      </p:sp>
      <p:sp>
        <p:nvSpPr>
          <p:cNvPr id="20" name="Freeform 26"/>
          <p:cNvSpPr>
            <a:spLocks noGrp="1"/>
          </p:cNvSpPr>
          <p:nvPr/>
        </p:nvSpPr>
        <p:spPr>
          <a:xfrm>
            <a:off x="11699139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1" name="Freeform 27"/>
          <p:cNvSpPr>
            <a:spLocks noGrp="1"/>
          </p:cNvSpPr>
          <p:nvPr/>
        </p:nvSpPr>
        <p:spPr>
          <a:xfrm>
            <a:off x="11727278" y="671328"/>
            <a:ext cx="64899" cy="75019"/>
          </a:xfrm>
          <a:custGeom>
            <a:avLst/>
            <a:gdLst/>
            <a:ahLst/>
            <a:cxnLst/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2" name="Freeform 28"/>
          <p:cNvSpPr>
            <a:spLocks noGrp="1"/>
          </p:cNvSpPr>
          <p:nvPr/>
        </p:nvSpPr>
        <p:spPr>
          <a:xfrm>
            <a:off x="11798105" y="671328"/>
            <a:ext cx="70920" cy="75019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9" name="08 / 10"/>
          <p:cNvSpPr>
            <a:spLocks noGrp="1"/>
          </p:cNvSpPr>
          <p:nvPr/>
        </p:nvSpPr>
        <p:spPr>
          <a:xfrm>
            <a:off x="11001375" y="64198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08 / 10</a:t>
            </a:r>
            <a:endParaRPr sz="1200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  <p:graphicFrame>
        <p:nvGraphicFramePr>
          <p:cNvPr id="30" name="表格 29"/>
          <p:cNvGraphicFramePr/>
          <p:nvPr/>
        </p:nvGraphicFramePr>
        <p:xfrm>
          <a:off x="628650" y="1495425"/>
          <a:ext cx="10934700" cy="2971800"/>
        </p:xfrm>
        <a:graphic>
          <a:graphicData uri="http://schemas.openxmlformats.org/drawingml/2006/table">
            <a:tbl>
              <a:tblPr/>
              <a:tblGrid>
                <a:gridCol w="2000250"/>
                <a:gridCol w="4000500"/>
                <a:gridCol w="2952750"/>
                <a:gridCol w="1981200"/>
              </a:tblGrid>
              <a:tr h="9906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问题</a:t>
                      </a:r>
                      <a:endParaRPr sz="1875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实际依据</a:t>
                      </a:r>
                      <a:endParaRPr sz="1875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RAG回答</a:t>
                      </a:r>
                      <a:endParaRPr sz="1875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无检索表现</a:t>
                      </a:r>
                      <a:endParaRPr sz="1875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9906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q002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数据库先修课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首位命中明确先修关系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ynu006_p000_00088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数据结构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引用[1]正确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未给出答案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9906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q006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两类学分上限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学分认定第4、8条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核心比较依据齐全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10与15学分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相差5学分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未给出数值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事实定位与跨片段比较获得了具体、可追溯的依据"/>
          <p:cNvSpPr>
            <a:spLocks noGrp="1"/>
          </p:cNvSpPr>
          <p:nvPr/>
        </p:nvSpPr>
        <p:spPr>
          <a:xfrm>
            <a:off x="628650" y="489585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2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事实定位与跨片段比较获得了具体、可追溯的依据</a:t>
            </a:r>
            <a:endParaRPr sz="2250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2" name="引用编号仅在该次Context内有效，须核对引用对应的正文。"/>
          <p:cNvSpPr>
            <a:spLocks noGrp="1"/>
          </p:cNvSpPr>
          <p:nvPr/>
        </p:nvSpPr>
        <p:spPr>
          <a:xfrm>
            <a:off x="628650" y="5857875"/>
            <a:ext cx="10858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引用编号仅在该次Context内有效，须核对引用对应的正文。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!!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2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47650" y="190500"/>
            <a:ext cx="919162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T1：失败发生在哪个环节</a:t>
            </a:r>
            <a:endParaRPr sz="2000" b="1"/>
          </a:p>
        </p:txBody>
      </p:sp>
      <p:sp>
        <p:nvSpPr>
          <p:cNvPr id="5" name="Freeform 3"/>
          <p:cNvSpPr>
            <a:spLocks noGrp="1"/>
          </p:cNvSpPr>
          <p:nvPr/>
        </p:nvSpPr>
        <p:spPr>
          <a:xfrm>
            <a:off x="9934317" y="186894"/>
            <a:ext cx="613619" cy="613620"/>
          </a:xfrm>
          <a:custGeom>
            <a:avLst/>
            <a:gdLst/>
            <a:ahLst/>
            <a:cxnLst/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/>
          <p:cNvSpPr>
            <a:spLocks noGrp="1"/>
          </p:cNvSpPr>
          <p:nvPr/>
        </p:nvSpPr>
        <p:spPr>
          <a:xfrm>
            <a:off x="10652398" y="239734"/>
            <a:ext cx="292078" cy="390695"/>
          </a:xfrm>
          <a:custGeom>
            <a:avLst/>
            <a:gdLst/>
            <a:ahLst/>
            <a:cxnLst/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8"/>
          <p:cNvSpPr>
            <a:spLocks noGrp="1"/>
          </p:cNvSpPr>
          <p:nvPr/>
        </p:nvSpPr>
        <p:spPr>
          <a:xfrm>
            <a:off x="10653884" y="671356"/>
            <a:ext cx="70915" cy="74996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4" name="Freeform 9"/>
          <p:cNvSpPr>
            <a:spLocks noGrp="1"/>
          </p:cNvSpPr>
          <p:nvPr/>
        </p:nvSpPr>
        <p:spPr>
          <a:xfrm>
            <a:off x="10737122" y="671356"/>
            <a:ext cx="64519" cy="77033"/>
          </a:xfrm>
          <a:custGeom>
            <a:avLst/>
            <a:gdLst/>
            <a:ahLst/>
            <a:cxnLst/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5" name="Freeform 10"/>
          <p:cNvSpPr>
            <a:spLocks noGrp="1"/>
          </p:cNvSpPr>
          <p:nvPr/>
        </p:nvSpPr>
        <p:spPr>
          <a:xfrm>
            <a:off x="10819892" y="671356"/>
            <a:ext cx="65105" cy="74996"/>
          </a:xfrm>
          <a:custGeom>
            <a:avLst/>
            <a:gdLst/>
            <a:ahLst/>
            <a:cxnLst/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6" name="Freeform 11"/>
          <p:cNvSpPr>
            <a:spLocks noGrp="1"/>
          </p:cNvSpPr>
          <p:nvPr/>
        </p:nvSpPr>
        <p:spPr>
          <a:xfrm>
            <a:off x="10902989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7" name="Freeform 12"/>
          <p:cNvSpPr>
            <a:spLocks noGrp="1"/>
          </p:cNvSpPr>
          <p:nvPr/>
        </p:nvSpPr>
        <p:spPr>
          <a:xfrm>
            <a:off x="10980651" y="671356"/>
            <a:ext cx="75764" cy="74996"/>
          </a:xfrm>
          <a:custGeom>
            <a:avLst/>
            <a:gdLst/>
            <a:ahLst/>
            <a:cxnLst/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8" name="Freeform 13"/>
          <p:cNvSpPr>
            <a:spLocks noGrp="1"/>
          </p:cNvSpPr>
          <p:nvPr/>
        </p:nvSpPr>
        <p:spPr>
          <a:xfrm>
            <a:off x="11069160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" name="Freeform 14"/>
          <p:cNvSpPr>
            <a:spLocks noGrp="1"/>
          </p:cNvSpPr>
          <p:nvPr/>
        </p:nvSpPr>
        <p:spPr>
          <a:xfrm>
            <a:off x="10986115" y="294278"/>
            <a:ext cx="235586" cy="333351"/>
          </a:xfrm>
          <a:custGeom>
            <a:avLst/>
            <a:gdLst/>
            <a:ahLst/>
            <a:cxnLst/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5"/>
          <p:cNvSpPr>
            <a:spLocks noGrp="1"/>
          </p:cNvSpPr>
          <p:nvPr/>
        </p:nvSpPr>
        <p:spPr>
          <a:xfrm>
            <a:off x="11298403" y="315340"/>
            <a:ext cx="240943" cy="281120"/>
          </a:xfrm>
          <a:custGeom>
            <a:avLst/>
            <a:gdLst/>
            <a:ahLst/>
            <a:cxnLst/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7"/>
          <p:cNvSpPr>
            <a:spLocks noGrp="1"/>
          </p:cNvSpPr>
          <p:nvPr/>
        </p:nvSpPr>
        <p:spPr>
          <a:xfrm>
            <a:off x="11634920" y="239734"/>
            <a:ext cx="234125" cy="390939"/>
          </a:xfrm>
          <a:custGeom>
            <a:avLst/>
            <a:gdLst/>
            <a:ahLst/>
            <a:cxnLst/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9"/>
          <p:cNvSpPr>
            <a:spLocks noGrp="1"/>
          </p:cNvSpPr>
          <p:nvPr/>
        </p:nvSpPr>
        <p:spPr>
          <a:xfrm>
            <a:off x="11186176" y="671328"/>
            <a:ext cx="64501" cy="77056"/>
          </a:xfrm>
          <a:custGeom>
            <a:avLst/>
            <a:gdLst/>
            <a:ahLst/>
            <a:cxnLst/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4" name="Freeform 20"/>
          <p:cNvSpPr>
            <a:spLocks noGrp="1"/>
          </p:cNvSpPr>
          <p:nvPr/>
        </p:nvSpPr>
        <p:spPr>
          <a:xfrm>
            <a:off x="11268952" y="671328"/>
            <a:ext cx="65086" cy="75019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5" name="Freeform 21"/>
          <p:cNvSpPr>
            <a:spLocks noGrp="1"/>
          </p:cNvSpPr>
          <p:nvPr/>
        </p:nvSpPr>
        <p:spPr>
          <a:xfrm>
            <a:off x="11351494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6" name="Freeform 22"/>
          <p:cNvSpPr>
            <a:spLocks noGrp="1"/>
          </p:cNvSpPr>
          <p:nvPr/>
        </p:nvSpPr>
        <p:spPr>
          <a:xfrm>
            <a:off x="11380171" y="671328"/>
            <a:ext cx="69936" cy="75019"/>
          </a:xfrm>
          <a:custGeom>
            <a:avLst/>
            <a:gdLst/>
            <a:ahLst/>
            <a:cxnLst/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7" name="Freeform 23"/>
          <p:cNvSpPr>
            <a:spLocks noGrp="1"/>
          </p:cNvSpPr>
          <p:nvPr/>
        </p:nvSpPr>
        <p:spPr>
          <a:xfrm>
            <a:off x="11463486" y="671328"/>
            <a:ext cx="60611" cy="75019"/>
          </a:xfrm>
          <a:custGeom>
            <a:avLst/>
            <a:gdLst/>
            <a:ahLst/>
            <a:cxnLst/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8" name="Freeform 24"/>
          <p:cNvSpPr>
            <a:spLocks noGrp="1"/>
          </p:cNvSpPr>
          <p:nvPr/>
        </p:nvSpPr>
        <p:spPr>
          <a:xfrm>
            <a:off x="11540452" y="671328"/>
            <a:ext cx="66867" cy="75019"/>
          </a:xfrm>
          <a:custGeom>
            <a:avLst/>
            <a:gdLst/>
            <a:ahLst/>
            <a:cxnLst/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9" name="Freeform 25"/>
          <p:cNvSpPr>
            <a:spLocks noGrp="1"/>
          </p:cNvSpPr>
          <p:nvPr/>
        </p:nvSpPr>
        <p:spPr>
          <a:xfrm>
            <a:off x="11619456" y="669290"/>
            <a:ext cx="65578" cy="79094"/>
          </a:xfrm>
          <a:custGeom>
            <a:avLst/>
            <a:gdLst/>
            <a:ahLst/>
            <a:cxnLst/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>
            <a:srgbClr val="1D2B5B"/>
          </a:solidFill>
        </p:spPr>
      </p:sp>
      <p:sp>
        <p:nvSpPr>
          <p:cNvPr id="20" name="Freeform 26"/>
          <p:cNvSpPr>
            <a:spLocks noGrp="1"/>
          </p:cNvSpPr>
          <p:nvPr/>
        </p:nvSpPr>
        <p:spPr>
          <a:xfrm>
            <a:off x="11699139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1" name="Freeform 27"/>
          <p:cNvSpPr>
            <a:spLocks noGrp="1"/>
          </p:cNvSpPr>
          <p:nvPr/>
        </p:nvSpPr>
        <p:spPr>
          <a:xfrm>
            <a:off x="11727278" y="671328"/>
            <a:ext cx="64899" cy="75019"/>
          </a:xfrm>
          <a:custGeom>
            <a:avLst/>
            <a:gdLst/>
            <a:ahLst/>
            <a:cxnLst/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2" name="Freeform 28"/>
          <p:cNvSpPr>
            <a:spLocks noGrp="1"/>
          </p:cNvSpPr>
          <p:nvPr/>
        </p:nvSpPr>
        <p:spPr>
          <a:xfrm>
            <a:off x="11798105" y="671328"/>
            <a:ext cx="70920" cy="75019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9" name="09 / 10"/>
          <p:cNvSpPr>
            <a:spLocks noGrp="1"/>
          </p:cNvSpPr>
          <p:nvPr/>
        </p:nvSpPr>
        <p:spPr>
          <a:xfrm>
            <a:off x="11001375" y="64198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09 / 10</a:t>
            </a:r>
            <a:endParaRPr sz="1200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  <p:graphicFrame>
        <p:nvGraphicFramePr>
          <p:cNvPr id="30" name="表格 29"/>
          <p:cNvGraphicFramePr/>
          <p:nvPr/>
        </p:nvGraphicFramePr>
        <p:xfrm>
          <a:off x="628650" y="1362075"/>
          <a:ext cx="10934700" cy="3429000"/>
        </p:xfrm>
        <a:graphic>
          <a:graphicData uri="http://schemas.openxmlformats.org/drawingml/2006/table">
            <a:tbl>
              <a:tblPr/>
              <a:tblGrid>
                <a:gridCol w="2238375"/>
                <a:gridCol w="5476875"/>
                <a:gridCol w="3219450"/>
              </a:tblGrid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案例</a:t>
                      </a:r>
                      <a:endParaRPr sz="1875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实际观察</a:t>
                      </a:r>
                      <a:endParaRPr sz="1875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主要归因</a:t>
                      </a:r>
                      <a:endParaRPr sz="1875" b="1">
                        <a:solidFill>
                          <a:srgbClr val="FFFFFF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q001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第一课堂学分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应为161.5学分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漏掉毕业要求块，回答资料不足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关键依据未召回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q003 缓考上限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应为一般最多两门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漏掉关键第3页，无检索反而答对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关键依据未召回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q017 微专业选择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相关表格块已进入Context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仍将其他专业电话、介绍错配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生成时表格关系误读</a:t>
                      </a:r>
                      <a:endParaRPr sz="1875" b="0">
                        <a:solidFill>
                          <a:srgbClr val="222A36"/>
                        </a:solidFill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133350" marR="114300" marT="95250" marB="7620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31" name="另有q019：只有5个候选来源，却生成了引用[8]"/>
          <p:cNvSpPr>
            <a:spLocks noGrp="1"/>
          </p:cNvSpPr>
          <p:nvPr/>
        </p:nvSpPr>
        <p:spPr>
          <a:xfrm>
            <a:off x="628650" y="51530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0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另有q019：只有5个候选来源，却生成了引用[8]</a:t>
            </a:r>
            <a:endParaRPr sz="2025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2" name="40次调用无接口错误、无长度截断；调用成功不等于答案或引用正确。"/>
          <p:cNvSpPr>
            <a:spLocks noGrp="1"/>
          </p:cNvSpPr>
          <p:nvPr/>
        </p:nvSpPr>
        <p:spPr>
          <a:xfrm>
            <a:off x="628650" y="5867400"/>
            <a:ext cx="10858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40次调用无接口错误、无长度截断；调用成功不等于答案或引用正确。</a:t>
            </a:r>
            <a:endParaRPr sz="14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2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164676" y="186894"/>
            <a:ext cx="278718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b="1"/>
          </a:p>
        </p:txBody>
      </p:sp>
      <p:sp>
        <p:nvSpPr>
          <p:cNvPr id="5" name="Freeform 3"/>
          <p:cNvSpPr>
            <a:spLocks noGrp="1"/>
          </p:cNvSpPr>
          <p:nvPr/>
        </p:nvSpPr>
        <p:spPr>
          <a:xfrm>
            <a:off x="9934317" y="186894"/>
            <a:ext cx="613619" cy="613620"/>
          </a:xfrm>
          <a:custGeom>
            <a:avLst/>
            <a:gdLst/>
            <a:ahLst/>
            <a:cxnLst/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7" name="Freeform 5"/>
          <p:cNvSpPr>
            <a:spLocks noGrp="1"/>
          </p:cNvSpPr>
          <p:nvPr/>
        </p:nvSpPr>
        <p:spPr>
          <a:xfrm>
            <a:off x="10652398" y="239734"/>
            <a:ext cx="292078" cy="390695"/>
          </a:xfrm>
          <a:custGeom>
            <a:avLst/>
            <a:gdLst/>
            <a:ahLst/>
            <a:cxnLst/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3" name="Freeform 8"/>
          <p:cNvSpPr>
            <a:spLocks noGrp="1"/>
          </p:cNvSpPr>
          <p:nvPr/>
        </p:nvSpPr>
        <p:spPr>
          <a:xfrm>
            <a:off x="10653884" y="671356"/>
            <a:ext cx="70915" cy="74996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4" name="Freeform 9"/>
          <p:cNvSpPr>
            <a:spLocks noGrp="1"/>
          </p:cNvSpPr>
          <p:nvPr/>
        </p:nvSpPr>
        <p:spPr>
          <a:xfrm>
            <a:off x="10737122" y="671356"/>
            <a:ext cx="64519" cy="77033"/>
          </a:xfrm>
          <a:custGeom>
            <a:avLst/>
            <a:gdLst/>
            <a:ahLst/>
            <a:cxnLst/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5" name="Freeform 10"/>
          <p:cNvSpPr>
            <a:spLocks noGrp="1"/>
          </p:cNvSpPr>
          <p:nvPr/>
        </p:nvSpPr>
        <p:spPr>
          <a:xfrm>
            <a:off x="10819892" y="671356"/>
            <a:ext cx="65105" cy="74996"/>
          </a:xfrm>
          <a:custGeom>
            <a:avLst/>
            <a:gdLst/>
            <a:ahLst/>
            <a:cxnLst/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6" name="Freeform 11"/>
          <p:cNvSpPr>
            <a:spLocks noGrp="1"/>
          </p:cNvSpPr>
          <p:nvPr/>
        </p:nvSpPr>
        <p:spPr>
          <a:xfrm>
            <a:off x="10902989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7" name="Freeform 12"/>
          <p:cNvSpPr>
            <a:spLocks noGrp="1"/>
          </p:cNvSpPr>
          <p:nvPr/>
        </p:nvSpPr>
        <p:spPr>
          <a:xfrm>
            <a:off x="10980651" y="671356"/>
            <a:ext cx="75764" cy="74996"/>
          </a:xfrm>
          <a:custGeom>
            <a:avLst/>
            <a:gdLst/>
            <a:ahLst/>
            <a:cxnLst/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8" name="Freeform 13"/>
          <p:cNvSpPr>
            <a:spLocks noGrp="1"/>
          </p:cNvSpPr>
          <p:nvPr/>
        </p:nvSpPr>
        <p:spPr>
          <a:xfrm>
            <a:off x="11069160" y="671356"/>
            <a:ext cx="65081" cy="74996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9" name="Freeform 14"/>
          <p:cNvSpPr>
            <a:spLocks noGrp="1"/>
          </p:cNvSpPr>
          <p:nvPr/>
        </p:nvSpPr>
        <p:spPr>
          <a:xfrm>
            <a:off x="10986115" y="294278"/>
            <a:ext cx="235586" cy="333351"/>
          </a:xfrm>
          <a:custGeom>
            <a:avLst/>
            <a:gdLst/>
            <a:ahLst/>
            <a:cxnLst/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5"/>
          <p:cNvSpPr>
            <a:spLocks noGrp="1"/>
          </p:cNvSpPr>
          <p:nvPr/>
        </p:nvSpPr>
        <p:spPr>
          <a:xfrm>
            <a:off x="11298403" y="315340"/>
            <a:ext cx="240943" cy="281120"/>
          </a:xfrm>
          <a:custGeom>
            <a:avLst/>
            <a:gdLst/>
            <a:ahLst/>
            <a:cxnLst/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7"/>
          <p:cNvSpPr>
            <a:spLocks noGrp="1"/>
          </p:cNvSpPr>
          <p:nvPr/>
        </p:nvSpPr>
        <p:spPr>
          <a:xfrm>
            <a:off x="11634920" y="239734"/>
            <a:ext cx="234125" cy="390939"/>
          </a:xfrm>
          <a:custGeom>
            <a:avLst/>
            <a:gdLst/>
            <a:ahLst/>
            <a:cxnLst/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9"/>
          <p:cNvSpPr>
            <a:spLocks noGrp="1"/>
          </p:cNvSpPr>
          <p:nvPr/>
        </p:nvSpPr>
        <p:spPr>
          <a:xfrm>
            <a:off x="11186176" y="671328"/>
            <a:ext cx="64501" cy="77056"/>
          </a:xfrm>
          <a:custGeom>
            <a:avLst/>
            <a:gdLst/>
            <a:ahLst/>
            <a:cxnLst/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4" name="Freeform 20"/>
          <p:cNvSpPr>
            <a:spLocks noGrp="1"/>
          </p:cNvSpPr>
          <p:nvPr/>
        </p:nvSpPr>
        <p:spPr>
          <a:xfrm>
            <a:off x="11268952" y="671328"/>
            <a:ext cx="65086" cy="75019"/>
          </a:xfrm>
          <a:custGeom>
            <a:avLst/>
            <a:gdLst/>
            <a:ahLst/>
            <a:cxnLst/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5" name="Freeform 21"/>
          <p:cNvSpPr>
            <a:spLocks noGrp="1"/>
          </p:cNvSpPr>
          <p:nvPr/>
        </p:nvSpPr>
        <p:spPr>
          <a:xfrm>
            <a:off x="11351494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6" name="Freeform 22"/>
          <p:cNvSpPr>
            <a:spLocks noGrp="1"/>
          </p:cNvSpPr>
          <p:nvPr/>
        </p:nvSpPr>
        <p:spPr>
          <a:xfrm>
            <a:off x="11380171" y="671328"/>
            <a:ext cx="69936" cy="75019"/>
          </a:xfrm>
          <a:custGeom>
            <a:avLst/>
            <a:gdLst/>
            <a:ahLst/>
            <a:cxnLst/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7" name="Freeform 23"/>
          <p:cNvSpPr>
            <a:spLocks noGrp="1"/>
          </p:cNvSpPr>
          <p:nvPr/>
        </p:nvSpPr>
        <p:spPr>
          <a:xfrm>
            <a:off x="11463486" y="671328"/>
            <a:ext cx="60611" cy="75019"/>
          </a:xfrm>
          <a:custGeom>
            <a:avLst/>
            <a:gdLst/>
            <a:ahLst/>
            <a:cxnLst/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8" name="Freeform 24"/>
          <p:cNvSpPr>
            <a:spLocks noGrp="1"/>
          </p:cNvSpPr>
          <p:nvPr/>
        </p:nvSpPr>
        <p:spPr>
          <a:xfrm>
            <a:off x="11540452" y="671328"/>
            <a:ext cx="66867" cy="75019"/>
          </a:xfrm>
          <a:custGeom>
            <a:avLst/>
            <a:gdLst/>
            <a:ahLst/>
            <a:cxnLst/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19" name="Freeform 25"/>
          <p:cNvSpPr>
            <a:spLocks noGrp="1"/>
          </p:cNvSpPr>
          <p:nvPr/>
        </p:nvSpPr>
        <p:spPr>
          <a:xfrm>
            <a:off x="11619456" y="669290"/>
            <a:ext cx="65578" cy="79094"/>
          </a:xfrm>
          <a:custGeom>
            <a:avLst/>
            <a:gdLst/>
            <a:ahLst/>
            <a:cxnLst/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>
            <a:srgbClr val="1D2B5B"/>
          </a:solidFill>
        </p:spPr>
      </p:sp>
      <p:sp>
        <p:nvSpPr>
          <p:cNvPr id="20" name="Freeform 26"/>
          <p:cNvSpPr>
            <a:spLocks noGrp="1"/>
          </p:cNvSpPr>
          <p:nvPr/>
        </p:nvSpPr>
        <p:spPr>
          <a:xfrm>
            <a:off x="11699139" y="671328"/>
            <a:ext cx="16658" cy="75019"/>
          </a:xfrm>
          <a:custGeom>
            <a:avLst/>
            <a:gdLst/>
            <a:ahLst/>
            <a:cxnLst/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1" name="Freeform 27"/>
          <p:cNvSpPr>
            <a:spLocks noGrp="1"/>
          </p:cNvSpPr>
          <p:nvPr/>
        </p:nvSpPr>
        <p:spPr>
          <a:xfrm>
            <a:off x="11727278" y="671328"/>
            <a:ext cx="64899" cy="75019"/>
          </a:xfrm>
          <a:custGeom>
            <a:avLst/>
            <a:gdLst/>
            <a:ahLst/>
            <a:cxnLst/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>
            <a:srgbClr val="1D2B5B"/>
          </a:solidFill>
        </p:spPr>
      </p:sp>
      <p:sp>
        <p:nvSpPr>
          <p:cNvPr id="22" name="Freeform 28"/>
          <p:cNvSpPr>
            <a:spLocks noGrp="1"/>
          </p:cNvSpPr>
          <p:nvPr/>
        </p:nvSpPr>
        <p:spPr>
          <a:xfrm>
            <a:off x="11798105" y="671328"/>
            <a:ext cx="70920" cy="75019"/>
          </a:xfrm>
          <a:custGeom>
            <a:avLst/>
            <a:gdLst/>
            <a:ahLst/>
            <a:cxnLst/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>
            <a:srgbClr val="1D2B5B"/>
          </a:solidFill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359616" flipH="1" flipV="1">
            <a:off x="861182" y="-521649"/>
            <a:ext cx="2488537" cy="3272596"/>
          </a:xfrm>
          <a:prstGeom prst="rect">
            <a:avLst/>
          </a:prstGeom>
        </p:spPr>
      </p:pic>
      <p:sp>
        <p:nvSpPr>
          <p:cNvPr id="43" name="增益与剩余问题"/>
          <p:cNvSpPr>
            <a:spLocks noGrp="1"/>
          </p:cNvSpPr>
          <p:nvPr/>
        </p:nvSpPr>
        <p:spPr>
          <a:xfrm>
            <a:off x="4191000" y="1314450"/>
            <a:ext cx="71913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33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33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33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33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33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33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33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33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33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33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33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增益与剩余问题</a:t>
            </a:r>
            <a:endParaRPr sz="3300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4" name="已观察到的增益"/>
          <p:cNvSpPr>
            <a:spLocks noGrp="1"/>
          </p:cNvSpPr>
          <p:nvPr/>
        </p:nvSpPr>
        <p:spPr>
          <a:xfrm>
            <a:off x="4191000" y="2333625"/>
            <a:ext cx="7191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2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已观察到的增益</a:t>
            </a:r>
            <a:endParaRPr sz="2250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5" name="具体事实、条款比较与规则应用得分更高"/>
          <p:cNvSpPr>
            <a:spLocks noGrp="1"/>
          </p:cNvSpPr>
          <p:nvPr/>
        </p:nvSpPr>
        <p:spPr>
          <a:xfrm>
            <a:off x="4191000" y="2828925"/>
            <a:ext cx="71913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100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具体事实、条款比较与规则应用得分更高</a:t>
            </a:r>
            <a:endParaRPr sz="2100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6" name="仍待解决"/>
          <p:cNvSpPr>
            <a:spLocks noGrp="1"/>
          </p:cNvSpPr>
          <p:nvPr/>
        </p:nvSpPr>
        <p:spPr>
          <a:xfrm>
            <a:off x="4191000" y="3714750"/>
            <a:ext cx="7191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2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仍待解决</a:t>
            </a:r>
            <a:endParaRPr sz="2250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7" name="L4未改善，仍有漏召回、表格错配与版本混用"/>
          <p:cNvSpPr>
            <a:spLocks noGrp="1"/>
          </p:cNvSpPr>
          <p:nvPr/>
        </p:nvSpPr>
        <p:spPr>
          <a:xfrm>
            <a:off x="4191000" y="4210050"/>
            <a:ext cx="7191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1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100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L4未改善，仍有漏召回、表格错配与版本混用</a:t>
            </a:r>
            <a:endParaRPr sz="2100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8" name="后续验证方向"/>
          <p:cNvSpPr>
            <a:spLocks noGrp="1"/>
          </p:cNvSpPr>
          <p:nvPr/>
        </p:nvSpPr>
        <p:spPr>
          <a:xfrm>
            <a:off x="4191000" y="5191125"/>
            <a:ext cx="7191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2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后续验证方向</a:t>
            </a:r>
            <a:endParaRPr sz="2250" b="1">
              <a:solidFill>
                <a:srgbClr val="1D2B5B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9" name="表格分块、查询改写、重排与事实核对（未实施）"/>
          <p:cNvSpPr>
            <a:spLocks noGrp="1"/>
          </p:cNvSpPr>
          <p:nvPr/>
        </p:nvSpPr>
        <p:spPr>
          <a:xfrm>
            <a:off x="4191000" y="5657850"/>
            <a:ext cx="7191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表格分块、查询改写、重排与事实核对（未实施）</a:t>
            </a:r>
            <a:endParaRPr sz="1875" b="0">
              <a:solidFill>
                <a:srgbClr val="222A36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0" name="10 / 10"/>
          <p:cNvSpPr>
            <a:spLocks noGrp="1"/>
          </p:cNvSpPr>
          <p:nvPr/>
        </p:nvSpPr>
        <p:spPr>
          <a:xfrm>
            <a:off x="11001375" y="6419850"/>
            <a:ext cx="904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10 / 10</a:t>
            </a:r>
            <a:endParaRPr sz="1200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1844</Words>
  <Application>WPS 演示</Application>
  <PresentationFormat>Converted Presentation</PresentationFormat>
  <Paragraphs>318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Arial</vt:lpstr>
      <vt:lpstr>等线</vt:lpstr>
      <vt:lpstr>KSOFFF47771B</vt:lpstr>
      <vt:lpstr>Segoe Print</vt:lpstr>
      <vt:lpstr>KSOFFF4702BC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follow me</cp:lastModifiedBy>
  <cp:revision>1</cp:revision>
  <dcterms:created xsi:type="dcterms:W3CDTF">2026-10-26T11:59:43Z</dcterms:created>
  <dcterms:modified xsi:type="dcterms:W3CDTF">2026-10-26T11:59:44Z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2052-12.1.0.29158</vt:lpwstr>
  </property>
  <property fmtid="{D5CDD505-2E9C-101B-9397-08002B2CF9AE}" pid="3" name="ICV">
    <vt:lpwstr>6231930374604AC5960BEEEE1F463EE1_12</vt:lpwstr>
  </property>
</Properties>
</file>